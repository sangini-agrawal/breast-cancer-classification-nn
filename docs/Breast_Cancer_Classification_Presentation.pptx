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b34cb17-5e9d-5f1b-ee56-f2e77c64ba93}">
          <p14:sldIdLst>
            <p14:sldId id="256"/>
            <p14:sldId id="257"/>
            <p14:sldId id="258"/>
          </p14:sldIdLst>
        </p14:section>
        <p14:section name="Data" id="{ca34e66a-c589-53d6-4bf4-6862bac91ba4}">
          <p14:sldIdLst>
            <p14:sldId id="259"/>
            <p14:sldId id="260"/>
          </p14:sldIdLst>
        </p14:section>
        <p14:section name="Method" id="{5cb3a0c3-68c5-3a41-6d32-6893a586e6ea}">
          <p14:sldIdLst>
            <p14:sldId id="261"/>
            <p14:sldId id="262"/>
            <p14:sldId id="263"/>
            <p14:sldId id="264"/>
          </p14:sldIdLst>
        </p14:section>
        <p14:section name="Results" id="{8838765c-6ede-2606-c243-93adea91e63c}">
          <p14:sldIdLst>
            <p14:sldId id="265"/>
            <p14:sldId id="266"/>
            <p14:sldId id="267"/>
            <p14:sldId id="268"/>
          </p14:sldIdLst>
        </p14:section>
        <p14:section name="Conclusion" id="{bb74e305-8d08-aa24-7ac4-4e5bc2ba2566}">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3A1F33"/>
                </a:solidFill>
                <a:latin typeface="+mn-lt"/>
              </a:defRPr>
            </a:pPr>
            <a:r>
              <a:rPr sz="1500" b="0" i="0" u="none" strike="noStrike">
                <a:solidFill>
                  <a:srgbClr val="3A1F33"/>
                </a:solidFill>
                <a:latin typeface="+mn-lt"/>
              </a:rPr>
              <a:t>Class distribution (patients)</a:t>
            </a:r>
          </a:p>
        </c:rich>
      </c:tx>
      <c:layout/>
      <c:overlay val="0"/>
    </c:title>
    <c:autoTitleDeleted val="0"/>
    <c:plotArea>
      <c:layout/>
      <c:barChart>
        <c:barDir val="col"/>
        <c:grouping val="clustered"/>
        <c:varyColors val="0"/>
        <c:ser>
          <c:idx val="0"/>
          <c:order val="0"/>
          <c:tx>
            <c:strRef>
              <c:f>Sheet1!$B$1</c:f>
              <c:strCache>
                <c:ptCount val="1"/>
                <c:pt idx="0">
                  <c:v>Patients</c:v>
                </c:pt>
              </c:strCache>
            </c:strRef>
          </c:tx>
          <c:spPr>
            <a:solidFill>
              <a:srgbClr val="EB6834"/>
            </a:solidFill>
            <a:effectLst/>
          </c:spPr>
          <c:invertIfNegative val="0"/>
          <c:dLbls>
            <c:numFmt formatCode="#,##0" sourceLinked="0"/>
            <c:txPr>
              <a:bodyPr/>
              <a:lstStyle/>
              <a:p>
                <a:pPr>
                  <a:defRPr b="0" i="0" strike="noStrike" sz="1400" u="none">
                    <a:solidFill>
                      <a:srgbClr val="1E1A1D"/>
                    </a:solidFill>
                    <a:latin typeface="+mn-lt"/>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2A78D6"/>
              </a:solidFill>
              <a:effectLst/>
            </c:spPr>
          </c:dPt>
          <c:cat>
            <c:multiLvlStrRef>
              <c:f>Sheet1!$A$2:$A$3</c:f>
              <c:multiLvlStrCache>
                <c:ptCount val="2"/>
                <c:lvl>
                  <c:pt idx="0">
                    <c:v>Malignant</c:v>
                  </c:pt>
                  <c:pt idx="1">
                    <c:v>Benign</c:v>
                  </c:pt>
                </c:lvl>
              </c:multiLvlStrCache>
            </c:multiLvlStrRef>
          </c:cat>
          <c:val>
            <c:numRef>
              <c:f>Sheet1!$B$2:$B$3</c:f>
              <c:numCache>
                <c:formatCode>General</c:formatCode>
                <c:ptCount val="2"/>
                <c:pt idx="0">
                  <c:v>212</c:v>
                </c:pt>
                <c:pt idx="1">
                  <c:v>357</c:v>
                </c:pt>
              </c:numCache>
            </c:numRef>
          </c:val>
        </c:ser>
        <c:dLbls>
          <c:numFmt formatCode="#,##0" sourceLinked="0"/>
          <c:txPr>
            <a:bodyPr/>
            <a:lstStyle/>
            <a:p>
              <a:pPr>
                <a:defRPr b="0" i="0" strike="noStrike" sz="1400" u="none">
                  <a:solidFill>
                    <a:srgbClr val="1E1A1D"/>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6B5B66"/>
                </a:solidFill>
                <a:latin typeface="+mn-lt"/>
              </a:defRPr>
            </a:pPr>
            <a:endParaRPr lang="en-US"/>
          </a:p>
        </c:txPr>
        <c:crossAx val="2094734552"/>
        <c:crosses val="autoZero"/>
        <c:auto val="1"/>
        <c:lblAlgn val="ctr"/>
        <c:noMultiLvlLbl val="1"/>
      </c:catAx>
      <c:valAx>
        <c:axId val="2094734552"/>
        <c:scaling>
          <c:orientation val="minMax"/>
          <c:max val="400"/>
        </c:scaling>
        <c:delete val="0"/>
        <c:axPos val="l"/>
        <c:majorGridlines>
          <c:spPr>
            <a:ln w="6350" cap="flat">
              <a:solidFill>
                <a:srgbClr val="E6E1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5B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a neural network that reads 30 measurements of breast-tumour cells and predicts whether the tumour is benign or malignant. Built in Python with TensorFlow/Keras as part of the Naviotech AI internship.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Breast cancer is the most common cancer in women. WHO estimates 2.4 million diagnoses and 694,000 deaths in 2024. Mortality falls when cancer is caught early, but microscope review is manual and subjective. My goal: an AI model that classifies tumours from FNA measurements, prioritising sensitivity so that cancers are not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objectives come from the project guide. The success criterion was classification accuracy above 90%. The final model reached 96.5% on unseen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comes from the University of Wisconsin. Each of the 569 rows is one patient. Ten properties of the cell nuclei were measured from a digitised image, and for each one the mean, standard error and worst value are stored, giving 30 features. There are 212 malignant and 357 benign cases. The data is clean: no missing values and no duplicates.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Histograms of six key features. Malignant tumours are clearly larger and more irregular. The correlation heatmap in the report shows radius, perimeter and area are almost perfectly correlated. These clear differences explain why a relatively small network can reach high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follows the seven phases in the Naviotech project guide, from data collection through to a working prediction system. Everything is implemented in Python, with TensorFlow/Keras for the network and scikit-learn for data handling, metrics and baseline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20% of patients are set aside as the test set and not touched until the end. Of the rest, 20% form a validation set that early stopping monitors. Splits are stratified. Because the features have very different scales, StandardScaler puts them all on the same scale; it is fitted on training data only, to avoid leaking information from the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takes 30 standardised features, passes them through two hidden layers of 16 and 8 neurons with ReLU, with 20% dropout after the first, and ends in 2 softmax neurons that output the probability of each class. Only 650 parameters. Adam optimiser, sparse categorical cross-entropy loss. I replaced the sigmoid output in the starter code with softmax, which is the correct pairing for this loss. I tried a few bigger sizes too, but they were not better, so I kept the small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and validation curves rise and fall together and stay close, which means the model is not over-fitting. Early stopping watched the validation loss; it stopped improving after epoch 41, training stopped at epoch 51, and the best weights were restored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reached 96.5% accuracy on 114 patients it had never seen, well above the 90% target. More importantly, sensitivity is 97.6%: it caught 41 of 42 cancers. The ROC-AUC of 0.994 shows it ranks malignant cases above benign ones almost perfectly. Cross-validation over all 569 patients gives 97.7%, confirming the result is not a lucky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ROC curve hugs the top-left corner, far from the diagonal of random guessing. The table is the classification report for each class. Precision answers 'when the model says cancer, is it right?'; recall answers 'of all cancers, how many did it find?'. In screening, recall for malignant tumours matters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check whether a neural network was a sensible choice, I trained four classical models on exactly the same data. All reach 95 to 98%. The network ties for the best sensitivity and is the most consistent across cross-validation folds. Logistic regression and SVM are equally accurate on this small dataset, which I found interesting: deep learning helps more on large or image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predictive system takes the 30 measurements of a new sample, applies the same scaler used in training, runs the network and returns the diagnosis with its probability. It works inside the notebook and as a command-line tool that also accepts a CSV of many patients. It is an educational tool, not a medical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project met its target with a small, stable neural network that rarely misses a cancer. Next steps would be more diverse data, explanations for each prediction, threshold tuning, image-based models and a simple web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the Naviotech team. Share the GitHub repository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Breast Cancer Classification using Neural Networks  ·  Naviotech AI Internship 2026</a:t>
            </a:r>
            <a:endParaRPr lang="en-US" sz="1000" dirty="0"/>
          </a:p>
        </p:txBody>
      </p:sp>
      <p:sp>
        <p:nvSpPr>
          <p:cNvPr id="3" name="Text 1"/>
          <p:cNvSpPr/>
          <p:nvPr>
            <p:ph idx="101" type="title" hasCustomPrompt="1"/>
          </p:nvPr>
        </p:nvSpPr>
        <p:spPr>
          <a:xfrm>
            <a:off x="548640" y="365760"/>
            <a:ext cx="11064240" cy="777240"/>
          </a:xfrm>
          <a:prstGeom prst="rect">
            <a:avLst/>
          </a:prstGeom>
          <a:noFill/>
          <a:ln/>
        </p:spPr>
        <p:txBody>
          <a:bodyPr wrap="square" rtlCol="0"/>
          <a:lstStyle>
            <a:lvl1pPr indent="0" marL="0">
              <a:buNone/>
              <a:defRPr lang="en-US" sz="3400" b="1" dirty="0">
                <a:solidFill>
                  <a:schemeClr val="tx2"/>
                </a:solidFill>
                <a:latin typeface="Cambria" pitchFamily="34" charset="0"/>
                <a:ea typeface="Cambria" pitchFamily="34" charset="-122"/>
                <a:cs typeface="Cambria" pitchFamily="34" charset="-120"/>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Ribbon circle"/>
          <p:cNvSpPr/>
          <p:nvPr/>
        </p:nvSpPr>
        <p:spPr>
          <a:xfrm>
            <a:off x="8778240" y="1280160"/>
            <a:ext cx="2743200" cy="2743200"/>
          </a:xfrm>
          <a:prstGeom prst="ellipse">
            <a:avLst/>
          </a:prstGeom>
          <a:solidFill>
            <a:schemeClr val="accent1"/>
          </a:solidFill>
          <a:ln/>
        </p:spPr>
      </p:sp>
      <p:pic>
        <p:nvPicPr>
          <p:cNvPr id="3" name="Ribbon icon" descr="preencoded.png">    </p:cNvPr>
          <p:cNvPicPr>
            <a:picLocks noChangeAspect="1"/>
          </p:cNvPicPr>
          <p:nvPr/>
        </p:nvPicPr>
        <p:blipFill>
          <a:blip r:embed="rId1"/>
          <a:stretch>
            <a:fillRect/>
          </a:stretch>
        </p:blipFill>
        <p:spPr>
          <a:xfrm>
            <a:off x="9464040" y="1965960"/>
            <a:ext cx="1371600" cy="1371600"/>
          </a:xfrm>
          <a:prstGeom prst="rect">
            <a:avLst/>
          </a:prstGeom>
        </p:spPr>
      </p:pic>
      <p:sp>
        <p:nvSpPr>
          <p:cNvPr id="4" name="Kicker"/>
          <p:cNvSpPr txBox="1"/>
          <p:nvPr/>
        </p:nvSpPr>
        <p:spPr>
          <a:xfrm>
            <a:off x="731520" y="1188720"/>
            <a:ext cx="7772400" cy="365760"/>
          </a:xfrm>
          <a:prstGeom prst="rect">
            <a:avLst/>
          </a:prstGeom>
          <a:noFill/>
          <a:ln/>
        </p:spPr>
        <p:txBody>
          <a:bodyPr wrap="square" lIns="0" tIns="0" rIns="0" bIns="0" rtlCol="0" anchor="ctr"/>
          <a:lstStyle/>
          <a:p>
            <a:pPr indent="0" marL="0">
              <a:buNone/>
            </a:pPr>
            <a:r>
              <a:rPr lang="en-US" sz="1400" b="1" spc="200" kern="0" dirty="0">
                <a:solidFill>
                  <a:schemeClr val="accent6"/>
                </a:solidFill>
              </a:rPr>
              <a:t>AI INTERNSHIP PROJECT  ·  NAVIOTECH SOLUTION</a:t>
            </a:r>
            <a:endParaRPr lang="en-US" sz="1400" dirty="0"/>
          </a:p>
        </p:txBody>
      </p:sp>
      <p:sp>
        <p:nvSpPr>
          <p:cNvPr id="5" name="Title"/>
          <p:cNvSpPr txBox="1"/>
          <p:nvPr/>
        </p:nvSpPr>
        <p:spPr>
          <a:xfrm>
            <a:off x="731520" y="1691640"/>
            <a:ext cx="7863840" cy="182880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Breast Cancer Classification using Neural Networks</a:t>
            </a:r>
            <a:endParaRPr lang="en-US" sz="4400" dirty="0"/>
          </a:p>
        </p:txBody>
      </p:sp>
      <p:sp>
        <p:nvSpPr>
          <p:cNvPr id="6" name="Subtitle"/>
          <p:cNvSpPr txBox="1"/>
          <p:nvPr/>
        </p:nvSpPr>
        <p:spPr>
          <a:xfrm>
            <a:off x="731520" y="3611880"/>
            <a:ext cx="7680960" cy="822960"/>
          </a:xfrm>
          <a:prstGeom prst="rect">
            <a:avLst/>
          </a:prstGeom>
          <a:noFill/>
          <a:ln/>
        </p:spPr>
        <p:txBody>
          <a:bodyPr wrap="square" lIns="0" tIns="0" rIns="0" bIns="0" rtlCol="0" anchor="ctr"/>
          <a:lstStyle/>
          <a:p>
            <a:pPr indent="0" marL="0">
              <a:buNone/>
            </a:pPr>
            <a:r>
              <a:rPr lang="en-US" sz="2000" i="1" dirty="0">
                <a:solidFill>
                  <a:schemeClr val="accent6"/>
                </a:solidFill>
              </a:rPr>
              <a:t>Predicting whether a breast tumour is benign or malignant with TensorFlow / Keras</a:t>
            </a:r>
            <a:endParaRPr lang="en-US" sz="2000" dirty="0"/>
          </a:p>
        </p:txBody>
      </p:sp>
      <p:sp>
        <p:nvSpPr>
          <p:cNvPr id="7" name="Presenter"/>
          <p:cNvSpPr txBox="1"/>
          <p:nvPr/>
        </p:nvSpPr>
        <p:spPr>
          <a:xfrm>
            <a:off x="731520" y="4937760"/>
            <a:ext cx="7315200" cy="1097280"/>
          </a:xfrm>
          <a:prstGeom prst="rect">
            <a:avLst/>
          </a:prstGeom>
          <a:noFill/>
          <a:ln/>
        </p:spPr>
        <p:txBody>
          <a:bodyPr wrap="square" lIns="0" tIns="0" rIns="0" bIns="0" rtlCol="0" anchor="ctr"/>
          <a:lstStyle/>
          <a:p>
            <a:pPr indent="0" marL="0">
              <a:buNone/>
            </a:pPr>
            <a:r>
              <a:rPr lang="en-US" sz="1800" b="1" dirty="0">
                <a:solidFill>
                  <a:schemeClr val="bg1"/>
                </a:solidFill>
              </a:rPr>
              <a:t>Sangini Agrawal</a:t>
            </a:r>
            <a:endParaRPr lang="en-US" sz="1800" dirty="0"/>
          </a:p>
          <a:p>
            <a:pPr indent="0" marL="0">
              <a:buNone/>
            </a:pPr>
            <a:r>
              <a:rPr lang="en-US" sz="1500" dirty="0">
                <a:solidFill>
                  <a:schemeClr val="accent6"/>
                </a:solidFill>
              </a:rPr>
              <a:t>AI Intern · September 2026 batch</a:t>
            </a:r>
            <a:endParaRPr lang="en-US" sz="1800" dirty="0"/>
          </a:p>
          <a:p>
            <a:pPr indent="0" marL="0">
              <a:buNone/>
            </a:pPr>
            <a:r>
              <a:rPr lang="en-US" sz="1500" dirty="0">
                <a:solidFill>
                  <a:schemeClr val="accent6"/>
                </a:solidFill>
              </a:rPr>
              <a:t>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Problem statement</a:t>
            </a:r>
            <a:endParaRPr lang="en-US" sz="3400" dirty="0"/>
          </a:p>
        </p:txBody>
      </p:sp>
      <p:sp>
        <p:nvSpPr>
          <p:cNvPr id="3" name="Stat card 1"/>
          <p:cNvSpPr/>
          <p:nvPr/>
        </p:nvSpPr>
        <p:spPr>
          <a:xfrm>
            <a:off x="548640" y="1417320"/>
            <a:ext cx="4937760" cy="1280160"/>
          </a:xfrm>
          <a:prstGeom prst="roundRect">
            <a:avLst>
              <a:gd name="adj" fmla="val 8571"/>
            </a:avLst>
          </a:prstGeom>
          <a:solidFill>
            <a:schemeClr val="bg2"/>
          </a:solidFill>
          <a:ln/>
        </p:spPr>
      </p:sp>
      <p:sp>
        <p:nvSpPr>
          <p:cNvPr id="4" name="Stat 1"/>
          <p:cNvSpPr txBox="1"/>
          <p:nvPr/>
        </p:nvSpPr>
        <p:spPr>
          <a:xfrm>
            <a:off x="777240" y="1527048"/>
            <a:ext cx="457200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2.4 million</a:t>
            </a:r>
            <a:endParaRPr lang="en-US" sz="3600" dirty="0"/>
          </a:p>
        </p:txBody>
      </p:sp>
      <p:sp>
        <p:nvSpPr>
          <p:cNvPr id="5" name="Stat label 1"/>
          <p:cNvSpPr txBox="1"/>
          <p:nvPr/>
        </p:nvSpPr>
        <p:spPr>
          <a:xfrm>
            <a:off x="777240" y="2194560"/>
            <a:ext cx="4572000" cy="411480"/>
          </a:xfrm>
          <a:prstGeom prst="rect">
            <a:avLst/>
          </a:prstGeom>
          <a:noFill/>
          <a:ln/>
        </p:spPr>
        <p:txBody>
          <a:bodyPr wrap="square" lIns="0" tIns="0" rIns="0" bIns="0" rtlCol="0" anchor="ctr"/>
          <a:lstStyle/>
          <a:p>
            <a:pPr indent="0" marL="0">
              <a:buNone/>
            </a:pPr>
            <a:r>
              <a:rPr lang="en-US" sz="1500" dirty="0">
                <a:solidFill>
                  <a:schemeClr val="tx1"/>
                </a:solidFill>
              </a:rPr>
              <a:t>women diagnosed with breast cancer worldwide in 2024</a:t>
            </a:r>
            <a:endParaRPr lang="en-US" sz="1500" dirty="0"/>
          </a:p>
        </p:txBody>
      </p:sp>
      <p:sp>
        <p:nvSpPr>
          <p:cNvPr id="6" name="Stat card 2"/>
          <p:cNvSpPr/>
          <p:nvPr/>
        </p:nvSpPr>
        <p:spPr>
          <a:xfrm>
            <a:off x="548640" y="2926080"/>
            <a:ext cx="4937760" cy="1280160"/>
          </a:xfrm>
          <a:prstGeom prst="roundRect">
            <a:avLst>
              <a:gd name="adj" fmla="val 8571"/>
            </a:avLst>
          </a:prstGeom>
          <a:solidFill>
            <a:schemeClr val="bg2"/>
          </a:solidFill>
          <a:ln/>
        </p:spPr>
      </p:sp>
      <p:sp>
        <p:nvSpPr>
          <p:cNvPr id="7" name="Stat 2"/>
          <p:cNvSpPr txBox="1"/>
          <p:nvPr/>
        </p:nvSpPr>
        <p:spPr>
          <a:xfrm>
            <a:off x="777240" y="3035808"/>
            <a:ext cx="457200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694,000</a:t>
            </a:r>
            <a:endParaRPr lang="en-US" sz="3600" dirty="0"/>
          </a:p>
        </p:txBody>
      </p:sp>
      <p:sp>
        <p:nvSpPr>
          <p:cNvPr id="8" name="Stat label 2"/>
          <p:cNvSpPr txBox="1"/>
          <p:nvPr/>
        </p:nvSpPr>
        <p:spPr>
          <a:xfrm>
            <a:off x="777240" y="3703320"/>
            <a:ext cx="4572000" cy="411480"/>
          </a:xfrm>
          <a:prstGeom prst="rect">
            <a:avLst/>
          </a:prstGeom>
          <a:noFill/>
          <a:ln/>
        </p:spPr>
        <p:txBody>
          <a:bodyPr wrap="square" lIns="0" tIns="0" rIns="0" bIns="0" rtlCol="0" anchor="ctr"/>
          <a:lstStyle/>
          <a:p>
            <a:pPr indent="0" marL="0">
              <a:buNone/>
            </a:pPr>
            <a:r>
              <a:rPr lang="en-US" sz="1500" dirty="0">
                <a:solidFill>
                  <a:schemeClr val="tx1"/>
                </a:solidFill>
              </a:rPr>
              <a:t>deaths from breast cancer worldwide in 2024</a:t>
            </a:r>
            <a:endParaRPr lang="en-US" sz="1500" dirty="0"/>
          </a:p>
        </p:txBody>
      </p:sp>
      <p:sp>
        <p:nvSpPr>
          <p:cNvPr id="9" name="Stat card 3"/>
          <p:cNvSpPr/>
          <p:nvPr/>
        </p:nvSpPr>
        <p:spPr>
          <a:xfrm>
            <a:off x="548640" y="4434840"/>
            <a:ext cx="4937760" cy="1280160"/>
          </a:xfrm>
          <a:prstGeom prst="roundRect">
            <a:avLst>
              <a:gd name="adj" fmla="val 8571"/>
            </a:avLst>
          </a:prstGeom>
          <a:solidFill>
            <a:schemeClr val="bg2"/>
          </a:solidFill>
          <a:ln/>
        </p:spPr>
      </p:sp>
      <p:sp>
        <p:nvSpPr>
          <p:cNvPr id="10" name="Stat 3"/>
          <p:cNvSpPr txBox="1"/>
          <p:nvPr/>
        </p:nvSpPr>
        <p:spPr>
          <a:xfrm>
            <a:off x="777240" y="4544568"/>
            <a:ext cx="457200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41.9%</a:t>
            </a:r>
            <a:endParaRPr lang="en-US" sz="3600" dirty="0"/>
          </a:p>
        </p:txBody>
      </p:sp>
      <p:sp>
        <p:nvSpPr>
          <p:cNvPr id="11" name="Stat label 3"/>
          <p:cNvSpPr txBox="1"/>
          <p:nvPr/>
        </p:nvSpPr>
        <p:spPr>
          <a:xfrm>
            <a:off x="777240" y="5212080"/>
            <a:ext cx="4572000" cy="411480"/>
          </a:xfrm>
          <a:prstGeom prst="rect">
            <a:avLst/>
          </a:prstGeom>
          <a:noFill/>
          <a:ln/>
        </p:spPr>
        <p:txBody>
          <a:bodyPr wrap="square" lIns="0" tIns="0" rIns="0" bIns="0" rtlCol="0" anchor="ctr"/>
          <a:lstStyle/>
          <a:p>
            <a:pPr indent="0" marL="0">
              <a:buNone/>
            </a:pPr>
            <a:r>
              <a:rPr lang="en-US" sz="1500" dirty="0">
                <a:solidFill>
                  <a:schemeClr val="tx1"/>
                </a:solidFill>
              </a:rPr>
              <a:t>five-year survival in low-income countries (87.3% in high-income)</a:t>
            </a:r>
            <a:endParaRPr lang="en-US" sz="1500" dirty="0"/>
          </a:p>
        </p:txBody>
      </p:sp>
      <p:sp>
        <p:nvSpPr>
          <p:cNvPr id="12" name="Source"/>
          <p:cNvSpPr txBox="1"/>
          <p:nvPr/>
        </p:nvSpPr>
        <p:spPr>
          <a:xfrm>
            <a:off x="548640" y="5943600"/>
            <a:ext cx="5120640" cy="274320"/>
          </a:xfrm>
          <a:prstGeom prst="rect">
            <a:avLst/>
          </a:prstGeom>
          <a:noFill/>
          <a:ln/>
        </p:spPr>
        <p:txBody>
          <a:bodyPr wrap="square" lIns="0" tIns="0" rIns="0" bIns="0" rtlCol="0" anchor="ctr"/>
          <a:lstStyle/>
          <a:p>
            <a:pPr indent="0" marL="0">
              <a:buNone/>
            </a:pPr>
            <a:r>
              <a:rPr lang="en-US" sz="1000" i="1" dirty="0">
                <a:solidFill>
                  <a:schemeClr val="accent5"/>
                </a:solidFill>
              </a:rPr>
              <a:t>Source: World Health Organization, Global Breast Cancer Initiative (July 2026)</a:t>
            </a:r>
            <a:endParaRPr lang="en-US" sz="1000" dirty="0"/>
          </a:p>
        </p:txBody>
      </p:sp>
      <p:sp>
        <p:nvSpPr>
          <p:cNvPr id="13" name="Microscope circle"/>
          <p:cNvSpPr/>
          <p:nvPr/>
        </p:nvSpPr>
        <p:spPr>
          <a:xfrm>
            <a:off x="6126480" y="1463040"/>
            <a:ext cx="731520" cy="731520"/>
          </a:xfrm>
          <a:prstGeom prst="ellipse">
            <a:avLst/>
          </a:prstGeom>
          <a:solidFill>
            <a:schemeClr val="accent1"/>
          </a:solidFill>
          <a:ln/>
        </p:spPr>
      </p:sp>
      <p:pic>
        <p:nvPicPr>
          <p:cNvPr id="14" name="Microscope icon" descr="preencoded.png">    </p:cNvPr>
          <p:cNvPicPr>
            <a:picLocks noChangeAspect="1"/>
          </p:cNvPicPr>
          <p:nvPr/>
        </p:nvPicPr>
        <p:blipFill>
          <a:blip r:embed="rId1"/>
          <a:stretch>
            <a:fillRect/>
          </a:stretch>
        </p:blipFill>
        <p:spPr>
          <a:xfrm>
            <a:off x="6302045" y="1638605"/>
            <a:ext cx="380390" cy="380390"/>
          </a:xfrm>
          <a:prstGeom prst="rect">
            <a:avLst/>
          </a:prstGeom>
        </p:spPr>
      </p:pic>
      <p:sp>
        <p:nvSpPr>
          <p:cNvPr id="15" name="Challenge head"/>
          <p:cNvSpPr txBox="1"/>
          <p:nvPr/>
        </p:nvSpPr>
        <p:spPr>
          <a:xfrm>
            <a:off x="7040880" y="1463040"/>
            <a:ext cx="4572000" cy="731520"/>
          </a:xfrm>
          <a:prstGeom prst="rect">
            <a:avLst/>
          </a:prstGeom>
          <a:noFill/>
          <a:ln/>
        </p:spPr>
        <p:txBody>
          <a:bodyPr wrap="square" lIns="0" tIns="0" rIns="0" bIns="0" rtlCol="0" anchor="ctr"/>
          <a:lstStyle/>
          <a:p>
            <a:pPr indent="0" marL="0">
              <a:buNone/>
            </a:pPr>
            <a:r>
              <a:rPr lang="en-US" sz="2200" b="1" dirty="0">
                <a:solidFill>
                  <a:schemeClr val="tx2"/>
                </a:solidFill>
              </a:rPr>
              <a:t>The challenge</a:t>
            </a:r>
            <a:endParaRPr lang="en-US" sz="2200" dirty="0"/>
          </a:p>
        </p:txBody>
      </p:sp>
      <p:sp>
        <p:nvSpPr>
          <p:cNvPr id="16" name="Challenge text"/>
          <p:cNvSpPr txBox="1"/>
          <p:nvPr/>
        </p:nvSpPr>
        <p:spPr>
          <a:xfrm>
            <a:off x="6126480" y="2377440"/>
            <a:ext cx="5486400" cy="1188720"/>
          </a:xfrm>
          <a:prstGeom prst="rect">
            <a:avLst/>
          </a:prstGeom>
          <a:noFill/>
          <a:ln/>
        </p:spPr>
        <p:txBody>
          <a:bodyPr wrap="square" lIns="0" tIns="0" rIns="0" bIns="0" rtlCol="0" anchor="t"/>
          <a:lstStyle/>
          <a:p>
            <a:pPr indent="0" marL="0">
              <a:buNone/>
            </a:pPr>
            <a:r>
              <a:rPr lang="en-US" sz="1600" dirty="0">
                <a:solidFill>
                  <a:schemeClr val="tx1"/>
                </a:solidFill>
              </a:rPr>
              <a:t>Early detection lowers mortality, but reviewing fine-needle aspirate (FNA) samples under a microscope is manual, slow and can vary between experts.</a:t>
            </a:r>
            <a:endParaRPr lang="en-US" sz="1600" dirty="0"/>
          </a:p>
        </p:txBody>
      </p:sp>
      <p:sp>
        <p:nvSpPr>
          <p:cNvPr id="17" name="Problem card"/>
          <p:cNvSpPr/>
          <p:nvPr/>
        </p:nvSpPr>
        <p:spPr>
          <a:xfrm>
            <a:off x="6126480" y="3749040"/>
            <a:ext cx="5486400" cy="2103120"/>
          </a:xfrm>
          <a:prstGeom prst="roundRect">
            <a:avLst>
              <a:gd name="adj" fmla="val 5217"/>
            </a:avLst>
          </a:prstGeom>
          <a:solidFill>
            <a:schemeClr val="accent6"/>
          </a:solidFill>
          <a:ln/>
        </p:spPr>
      </p:sp>
      <p:sp>
        <p:nvSpPr>
          <p:cNvPr id="18" name="Problem text"/>
          <p:cNvSpPr txBox="1"/>
          <p:nvPr/>
        </p:nvSpPr>
        <p:spPr>
          <a:xfrm>
            <a:off x="6355080" y="3931920"/>
            <a:ext cx="5029200" cy="1783080"/>
          </a:xfrm>
          <a:prstGeom prst="rect">
            <a:avLst/>
          </a:prstGeom>
          <a:noFill/>
          <a:ln/>
        </p:spPr>
        <p:txBody>
          <a:bodyPr wrap="square" lIns="0" tIns="0" rIns="0" bIns="0" rtlCol="0" anchor="t"/>
          <a:lstStyle/>
          <a:p>
            <a:pPr indent="0" marL="0">
              <a:spcAft>
                <a:spcPts val="600"/>
              </a:spcAft>
              <a:buNone/>
            </a:pPr>
            <a:r>
              <a:rPr lang="en-US" sz="1700" b="1" dirty="0">
                <a:solidFill>
                  <a:schemeClr val="tx2"/>
                </a:solidFill>
              </a:rPr>
              <a:t>Problem to solve</a:t>
            </a:r>
            <a:endParaRPr lang="en-US" sz="1700" dirty="0"/>
          </a:p>
          <a:p>
            <a:pPr indent="0" marL="0">
              <a:spcAft>
                <a:spcPts val="600"/>
              </a:spcAft>
              <a:buNone/>
            </a:pPr>
            <a:r>
              <a:rPr lang="en-US" sz="1600" dirty="0">
                <a:solidFill>
                  <a:schemeClr val="tx1"/>
                </a:solidFill>
              </a:rPr>
              <a:t>Given 30 measurements of a tumour's cell nuclei, automatically classify it as benign or malignant with high accuracy, and most importantly without missing cancers.</a:t>
            </a:r>
            <a:endParaRPr lang="en-US" sz="17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Project objectives</a:t>
            </a:r>
            <a:endParaRPr lang="en-US" sz="3400" dirty="0"/>
          </a:p>
        </p:txBody>
      </p:sp>
      <p:sp>
        <p:nvSpPr>
          <p:cNvPr id="3" name="Objective 1 circle"/>
          <p:cNvSpPr/>
          <p:nvPr/>
        </p:nvSpPr>
        <p:spPr>
          <a:xfrm>
            <a:off x="548640" y="1371600"/>
            <a:ext cx="685800" cy="685800"/>
          </a:xfrm>
          <a:prstGeom prst="ellipse">
            <a:avLst/>
          </a:prstGeom>
          <a:solidFill>
            <a:schemeClr val="accent1"/>
          </a:solidFill>
          <a:ln/>
        </p:spPr>
      </p:sp>
      <p:pic>
        <p:nvPicPr>
          <p:cNvPr id="4" name="Objective 1 icon" descr="preencoded.png">    </p:cNvPr>
          <p:cNvPicPr>
            <a:picLocks noChangeAspect="1"/>
          </p:cNvPicPr>
          <p:nvPr/>
        </p:nvPicPr>
        <p:blipFill>
          <a:blip r:embed="rId1"/>
          <a:stretch>
            <a:fillRect/>
          </a:stretch>
        </p:blipFill>
        <p:spPr>
          <a:xfrm>
            <a:off x="713232" y="1536192"/>
            <a:ext cx="356616" cy="356616"/>
          </a:xfrm>
          <a:prstGeom prst="rect">
            <a:avLst/>
          </a:prstGeom>
        </p:spPr>
      </p:pic>
      <p:sp>
        <p:nvSpPr>
          <p:cNvPr id="5" name="Objective 1 head"/>
          <p:cNvSpPr txBox="1"/>
          <p:nvPr/>
        </p:nvSpPr>
        <p:spPr>
          <a:xfrm>
            <a:off x="1463040" y="1353312"/>
            <a:ext cx="6217920" cy="384048"/>
          </a:xfrm>
          <a:prstGeom prst="rect">
            <a:avLst/>
          </a:prstGeom>
          <a:noFill/>
          <a:ln/>
        </p:spPr>
        <p:txBody>
          <a:bodyPr wrap="square" lIns="0" tIns="0" rIns="0" bIns="0" rtlCol="0" anchor="ctr"/>
          <a:lstStyle/>
          <a:p>
            <a:pPr indent="0" marL="0">
              <a:buNone/>
            </a:pPr>
            <a:r>
              <a:rPr lang="en-US" sz="1800" b="1" dirty="0">
                <a:solidFill>
                  <a:schemeClr val="tx2"/>
                </a:solidFill>
              </a:rPr>
              <a:t>Build an intelligent prediction system</a:t>
            </a:r>
            <a:endParaRPr lang="en-US" sz="1800" dirty="0"/>
          </a:p>
        </p:txBody>
      </p:sp>
      <p:sp>
        <p:nvSpPr>
          <p:cNvPr id="6" name="Objective 1 text"/>
          <p:cNvSpPr txBox="1"/>
          <p:nvPr/>
        </p:nvSpPr>
        <p:spPr>
          <a:xfrm>
            <a:off x="1463040" y="1737360"/>
            <a:ext cx="6217920" cy="347472"/>
          </a:xfrm>
          <a:prstGeom prst="rect">
            <a:avLst/>
          </a:prstGeom>
          <a:noFill/>
          <a:ln/>
        </p:spPr>
        <p:txBody>
          <a:bodyPr wrap="square" lIns="0" tIns="0" rIns="0" bIns="0" rtlCol="0" anchor="ctr"/>
          <a:lstStyle/>
          <a:p>
            <a:pPr indent="0" marL="0">
              <a:buNone/>
            </a:pPr>
            <a:r>
              <a:rPr lang="en-US" sz="1500" dirty="0">
                <a:solidFill>
                  <a:schemeClr val="accent5"/>
                </a:solidFill>
              </a:rPr>
              <a:t>A neural network that labels a tumour benign or malignant</a:t>
            </a:r>
            <a:endParaRPr lang="en-US" sz="1500" dirty="0"/>
          </a:p>
        </p:txBody>
      </p:sp>
      <p:sp>
        <p:nvSpPr>
          <p:cNvPr id="7" name="Objective 2 circle"/>
          <p:cNvSpPr/>
          <p:nvPr/>
        </p:nvSpPr>
        <p:spPr>
          <a:xfrm>
            <a:off x="548640" y="2331720"/>
            <a:ext cx="685800" cy="685800"/>
          </a:xfrm>
          <a:prstGeom prst="ellipse">
            <a:avLst/>
          </a:prstGeom>
          <a:solidFill>
            <a:schemeClr val="accent1"/>
          </a:solidFill>
          <a:ln/>
        </p:spPr>
      </p:sp>
      <p:pic>
        <p:nvPicPr>
          <p:cNvPr id="8" name="Objective 2 icon" descr="preencoded.png">    </p:cNvPr>
          <p:cNvPicPr>
            <a:picLocks noChangeAspect="1"/>
          </p:cNvPicPr>
          <p:nvPr/>
        </p:nvPicPr>
        <p:blipFill>
          <a:blip r:embed="rId2"/>
          <a:stretch>
            <a:fillRect/>
          </a:stretch>
        </p:blipFill>
        <p:spPr>
          <a:xfrm>
            <a:off x="713232" y="2496312"/>
            <a:ext cx="356616" cy="356616"/>
          </a:xfrm>
          <a:prstGeom prst="rect">
            <a:avLst/>
          </a:prstGeom>
        </p:spPr>
      </p:pic>
      <p:sp>
        <p:nvSpPr>
          <p:cNvPr id="9" name="Objective 2 head"/>
          <p:cNvSpPr txBox="1"/>
          <p:nvPr/>
        </p:nvSpPr>
        <p:spPr>
          <a:xfrm>
            <a:off x="1463040" y="2313432"/>
            <a:ext cx="6217920" cy="384048"/>
          </a:xfrm>
          <a:prstGeom prst="rect">
            <a:avLst/>
          </a:prstGeom>
          <a:noFill/>
          <a:ln/>
        </p:spPr>
        <p:txBody>
          <a:bodyPr wrap="square" lIns="0" tIns="0" rIns="0" bIns="0" rtlCol="0" anchor="ctr"/>
          <a:lstStyle/>
          <a:p>
            <a:pPr indent="0" marL="0">
              <a:buNone/>
            </a:pPr>
            <a:r>
              <a:rPr lang="en-US" sz="1800" b="1" dirty="0">
                <a:solidFill>
                  <a:schemeClr val="tx2"/>
                </a:solidFill>
              </a:rPr>
              <a:t>Understand classification algorithms</a:t>
            </a:r>
            <a:endParaRPr lang="en-US" sz="1800" dirty="0"/>
          </a:p>
        </p:txBody>
      </p:sp>
      <p:sp>
        <p:nvSpPr>
          <p:cNvPr id="10" name="Objective 2 text"/>
          <p:cNvSpPr txBox="1"/>
          <p:nvPr/>
        </p:nvSpPr>
        <p:spPr>
          <a:xfrm>
            <a:off x="1463040" y="2697480"/>
            <a:ext cx="6217920" cy="347472"/>
          </a:xfrm>
          <a:prstGeom prst="rect">
            <a:avLst/>
          </a:prstGeom>
          <a:noFill/>
          <a:ln/>
        </p:spPr>
        <p:txBody>
          <a:bodyPr wrap="square" lIns="0" tIns="0" rIns="0" bIns="0" rtlCol="0" anchor="ctr"/>
          <a:lstStyle/>
          <a:p>
            <a:pPr indent="0" marL="0">
              <a:buNone/>
            </a:pPr>
            <a:r>
              <a:rPr lang="en-US" sz="1500" dirty="0">
                <a:solidFill>
                  <a:schemeClr val="accent5"/>
                </a:solidFill>
              </a:rPr>
              <a:t>Neural networks, plus four classical ML baselines for comparison</a:t>
            </a:r>
            <a:endParaRPr lang="en-US" sz="1500" dirty="0"/>
          </a:p>
        </p:txBody>
      </p:sp>
      <p:sp>
        <p:nvSpPr>
          <p:cNvPr id="11" name="Objective 3 circle"/>
          <p:cNvSpPr/>
          <p:nvPr/>
        </p:nvSpPr>
        <p:spPr>
          <a:xfrm>
            <a:off x="548640" y="3291840"/>
            <a:ext cx="685800" cy="685800"/>
          </a:xfrm>
          <a:prstGeom prst="ellipse">
            <a:avLst/>
          </a:prstGeom>
          <a:solidFill>
            <a:schemeClr val="accent1"/>
          </a:solidFill>
          <a:ln/>
        </p:spPr>
      </p:sp>
      <p:pic>
        <p:nvPicPr>
          <p:cNvPr id="12" name="Objective 3 icon" descr="preencoded.png">    </p:cNvPr>
          <p:cNvPicPr>
            <a:picLocks noChangeAspect="1"/>
          </p:cNvPicPr>
          <p:nvPr/>
        </p:nvPicPr>
        <p:blipFill>
          <a:blip r:embed="rId3"/>
          <a:stretch>
            <a:fillRect/>
          </a:stretch>
        </p:blipFill>
        <p:spPr>
          <a:xfrm>
            <a:off x="713232" y="3456432"/>
            <a:ext cx="356616" cy="356616"/>
          </a:xfrm>
          <a:prstGeom prst="rect">
            <a:avLst/>
          </a:prstGeom>
        </p:spPr>
      </p:pic>
      <p:sp>
        <p:nvSpPr>
          <p:cNvPr id="13" name="Objective 3 head"/>
          <p:cNvSpPr txBox="1"/>
          <p:nvPr/>
        </p:nvSpPr>
        <p:spPr>
          <a:xfrm>
            <a:off x="1463040" y="3273552"/>
            <a:ext cx="6217920" cy="384048"/>
          </a:xfrm>
          <a:prstGeom prst="rect">
            <a:avLst/>
          </a:prstGeom>
          <a:noFill/>
          <a:ln/>
        </p:spPr>
        <p:txBody>
          <a:bodyPr wrap="square" lIns="0" tIns="0" rIns="0" bIns="0" rtlCol="0" anchor="ctr"/>
          <a:lstStyle/>
          <a:p>
            <a:pPr indent="0" marL="0">
              <a:buNone/>
            </a:pPr>
            <a:r>
              <a:rPr lang="en-US" sz="1800" b="1" dirty="0">
                <a:solidFill>
                  <a:schemeClr val="tx2"/>
                </a:solidFill>
              </a:rPr>
              <a:t>Apply healthcare data analysis</a:t>
            </a:r>
            <a:endParaRPr lang="en-US" sz="1800" dirty="0"/>
          </a:p>
        </p:txBody>
      </p:sp>
      <p:sp>
        <p:nvSpPr>
          <p:cNvPr id="14" name="Objective 3 text"/>
          <p:cNvSpPr txBox="1"/>
          <p:nvPr/>
        </p:nvSpPr>
        <p:spPr>
          <a:xfrm>
            <a:off x="1463040" y="3657600"/>
            <a:ext cx="6217920" cy="347472"/>
          </a:xfrm>
          <a:prstGeom prst="rect">
            <a:avLst/>
          </a:prstGeom>
          <a:noFill/>
          <a:ln/>
        </p:spPr>
        <p:txBody>
          <a:bodyPr wrap="square" lIns="0" tIns="0" rIns="0" bIns="0" rtlCol="0" anchor="ctr"/>
          <a:lstStyle/>
          <a:p>
            <a:pPr indent="0" marL="0">
              <a:buNone/>
            </a:pPr>
            <a:r>
              <a:rPr lang="en-US" sz="1500" dirty="0">
                <a:solidFill>
                  <a:schemeClr val="accent5"/>
                </a:solidFill>
              </a:rPr>
              <a:t>Explore, clean and pre-process real diagnostic measurements</a:t>
            </a:r>
            <a:endParaRPr lang="en-US" sz="1500" dirty="0"/>
          </a:p>
        </p:txBody>
      </p:sp>
      <p:sp>
        <p:nvSpPr>
          <p:cNvPr id="15" name="Objective 4 circle"/>
          <p:cNvSpPr/>
          <p:nvPr/>
        </p:nvSpPr>
        <p:spPr>
          <a:xfrm>
            <a:off x="548640" y="4251960"/>
            <a:ext cx="685800" cy="685800"/>
          </a:xfrm>
          <a:prstGeom prst="ellipse">
            <a:avLst/>
          </a:prstGeom>
          <a:solidFill>
            <a:schemeClr val="accent1"/>
          </a:solidFill>
          <a:ln/>
        </p:spPr>
      </p:sp>
      <p:pic>
        <p:nvPicPr>
          <p:cNvPr id="16" name="Objective 4 icon" descr="preencoded.png">    </p:cNvPr>
          <p:cNvPicPr>
            <a:picLocks noChangeAspect="1"/>
          </p:cNvPicPr>
          <p:nvPr/>
        </p:nvPicPr>
        <p:blipFill>
          <a:blip r:embed="rId4"/>
          <a:stretch>
            <a:fillRect/>
          </a:stretch>
        </p:blipFill>
        <p:spPr>
          <a:xfrm>
            <a:off x="713232" y="4416552"/>
            <a:ext cx="356616" cy="356616"/>
          </a:xfrm>
          <a:prstGeom prst="rect">
            <a:avLst/>
          </a:prstGeom>
        </p:spPr>
      </p:pic>
      <p:sp>
        <p:nvSpPr>
          <p:cNvPr id="17" name="Objective 4 head"/>
          <p:cNvSpPr txBox="1"/>
          <p:nvPr/>
        </p:nvSpPr>
        <p:spPr>
          <a:xfrm>
            <a:off x="1463040" y="4233672"/>
            <a:ext cx="6217920" cy="384048"/>
          </a:xfrm>
          <a:prstGeom prst="rect">
            <a:avLst/>
          </a:prstGeom>
          <a:noFill/>
          <a:ln/>
        </p:spPr>
        <p:txBody>
          <a:bodyPr wrap="square" lIns="0" tIns="0" rIns="0" bIns="0" rtlCol="0" anchor="ctr"/>
          <a:lstStyle/>
          <a:p>
            <a:pPr indent="0" marL="0">
              <a:buNone/>
            </a:pPr>
            <a:r>
              <a:rPr lang="en-US" sz="1800" b="1" dirty="0">
                <a:solidFill>
                  <a:schemeClr val="tx2"/>
                </a:solidFill>
              </a:rPr>
              <a:t>Apply neural networks to real data</a:t>
            </a:r>
            <a:endParaRPr lang="en-US" sz="1800" dirty="0"/>
          </a:p>
        </p:txBody>
      </p:sp>
      <p:sp>
        <p:nvSpPr>
          <p:cNvPr id="18" name="Objective 4 text"/>
          <p:cNvSpPr txBox="1"/>
          <p:nvPr/>
        </p:nvSpPr>
        <p:spPr>
          <a:xfrm>
            <a:off x="1463040" y="4617720"/>
            <a:ext cx="6217920" cy="347472"/>
          </a:xfrm>
          <a:prstGeom prst="rect">
            <a:avLst/>
          </a:prstGeom>
          <a:noFill/>
          <a:ln/>
        </p:spPr>
        <p:txBody>
          <a:bodyPr wrap="square" lIns="0" tIns="0" rIns="0" bIns="0" rtlCol="0" anchor="ctr"/>
          <a:lstStyle/>
          <a:p>
            <a:pPr indent="0" marL="0">
              <a:buNone/>
            </a:pPr>
            <a:r>
              <a:rPr lang="en-US" sz="1500" dirty="0">
                <a:solidFill>
                  <a:schemeClr val="accent5"/>
                </a:solidFill>
              </a:rPr>
              <a:t>TensorFlow / Keras on the Breast Cancer Wisconsin dataset</a:t>
            </a:r>
            <a:endParaRPr lang="en-US" sz="1500" dirty="0"/>
          </a:p>
        </p:txBody>
      </p:sp>
      <p:sp>
        <p:nvSpPr>
          <p:cNvPr id="19" name="Objective 5 circle"/>
          <p:cNvSpPr/>
          <p:nvPr/>
        </p:nvSpPr>
        <p:spPr>
          <a:xfrm>
            <a:off x="548640" y="5212080"/>
            <a:ext cx="685800" cy="685800"/>
          </a:xfrm>
          <a:prstGeom prst="ellipse">
            <a:avLst/>
          </a:prstGeom>
          <a:solidFill>
            <a:schemeClr val="accent1"/>
          </a:solidFill>
          <a:ln/>
        </p:spPr>
      </p:sp>
      <p:pic>
        <p:nvPicPr>
          <p:cNvPr id="20" name="Objective 5 icon" descr="preencoded.png">    </p:cNvPr>
          <p:cNvPicPr>
            <a:picLocks noChangeAspect="1"/>
          </p:cNvPicPr>
          <p:nvPr/>
        </p:nvPicPr>
        <p:blipFill>
          <a:blip r:embed="rId5"/>
          <a:stretch>
            <a:fillRect/>
          </a:stretch>
        </p:blipFill>
        <p:spPr>
          <a:xfrm>
            <a:off x="713232" y="5376672"/>
            <a:ext cx="356616" cy="356616"/>
          </a:xfrm>
          <a:prstGeom prst="rect">
            <a:avLst/>
          </a:prstGeom>
        </p:spPr>
      </p:pic>
      <p:sp>
        <p:nvSpPr>
          <p:cNvPr id="21" name="Objective 5 head"/>
          <p:cNvSpPr txBox="1"/>
          <p:nvPr/>
        </p:nvSpPr>
        <p:spPr>
          <a:xfrm>
            <a:off x="1463040" y="5193792"/>
            <a:ext cx="6217920" cy="384048"/>
          </a:xfrm>
          <a:prstGeom prst="rect">
            <a:avLst/>
          </a:prstGeom>
          <a:noFill/>
          <a:ln/>
        </p:spPr>
        <p:txBody>
          <a:bodyPr wrap="square" lIns="0" tIns="0" rIns="0" bIns="0" rtlCol="0" anchor="ctr"/>
          <a:lstStyle/>
          <a:p>
            <a:pPr indent="0" marL="0">
              <a:buNone/>
            </a:pPr>
            <a:r>
              <a:rPr lang="en-US" sz="1800" b="1" dirty="0">
                <a:solidFill>
                  <a:schemeClr val="tx2"/>
                </a:solidFill>
              </a:rPr>
              <a:t>Evaluate with clinical metrics</a:t>
            </a:r>
            <a:endParaRPr lang="en-US" sz="1800" dirty="0"/>
          </a:p>
        </p:txBody>
      </p:sp>
      <p:sp>
        <p:nvSpPr>
          <p:cNvPr id="22" name="Objective 5 text"/>
          <p:cNvSpPr txBox="1"/>
          <p:nvPr/>
        </p:nvSpPr>
        <p:spPr>
          <a:xfrm>
            <a:off x="1463040" y="5577840"/>
            <a:ext cx="6217920" cy="347472"/>
          </a:xfrm>
          <a:prstGeom prst="rect">
            <a:avLst/>
          </a:prstGeom>
          <a:noFill/>
          <a:ln/>
        </p:spPr>
        <p:txBody>
          <a:bodyPr wrap="square" lIns="0" tIns="0" rIns="0" bIns="0" rtlCol="0" anchor="ctr"/>
          <a:lstStyle/>
          <a:p>
            <a:pPr indent="0" marL="0">
              <a:buNone/>
            </a:pPr>
            <a:r>
              <a:rPr lang="en-US" sz="1500" dirty="0">
                <a:solidFill>
                  <a:schemeClr val="accent5"/>
                </a:solidFill>
              </a:rPr>
              <a:t>Accuracy, precision, recall, F1-score, confusion matrix, ROC-AUC</a:t>
            </a:r>
            <a:endParaRPr lang="en-US" sz="1500" dirty="0"/>
          </a:p>
        </p:txBody>
      </p:sp>
      <p:sp>
        <p:nvSpPr>
          <p:cNvPr id="23" name="Target card"/>
          <p:cNvSpPr/>
          <p:nvPr/>
        </p:nvSpPr>
        <p:spPr>
          <a:xfrm>
            <a:off x="8138160" y="1371600"/>
            <a:ext cx="3474720" cy="4526280"/>
          </a:xfrm>
          <a:prstGeom prst="roundRect">
            <a:avLst>
              <a:gd name="adj" fmla="val 3158"/>
            </a:avLst>
          </a:prstGeom>
          <a:solidFill>
            <a:schemeClr val="tx2"/>
          </a:solidFill>
          <a:ln/>
        </p:spPr>
      </p:sp>
      <p:sp>
        <p:nvSpPr>
          <p:cNvPr id="24" name="Target head"/>
          <p:cNvSpPr txBox="1"/>
          <p:nvPr/>
        </p:nvSpPr>
        <p:spPr>
          <a:xfrm>
            <a:off x="8366760" y="1600200"/>
            <a:ext cx="3017520" cy="365760"/>
          </a:xfrm>
          <a:prstGeom prst="rect">
            <a:avLst/>
          </a:prstGeom>
          <a:noFill/>
          <a:ln/>
        </p:spPr>
        <p:txBody>
          <a:bodyPr wrap="square" lIns="0" tIns="0" rIns="0" bIns="0" rtlCol="0" anchor="ctr"/>
          <a:lstStyle/>
          <a:p>
            <a:pPr indent="0" marL="0">
              <a:buNone/>
            </a:pPr>
            <a:r>
              <a:rPr lang="en-US" sz="1600" b="1" dirty="0">
                <a:solidFill>
                  <a:schemeClr val="accent6"/>
                </a:solidFill>
              </a:rPr>
              <a:t>Success criterion</a:t>
            </a:r>
            <a:endParaRPr lang="en-US" sz="1600" dirty="0"/>
          </a:p>
        </p:txBody>
      </p:sp>
      <p:sp>
        <p:nvSpPr>
          <p:cNvPr id="25" name="Target value"/>
          <p:cNvSpPr txBox="1"/>
          <p:nvPr/>
        </p:nvSpPr>
        <p:spPr>
          <a:xfrm>
            <a:off x="8366760" y="2011680"/>
            <a:ext cx="3017520" cy="82296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&gt; 90%</a:t>
            </a:r>
            <a:endParaRPr lang="en-US" sz="4400" dirty="0"/>
          </a:p>
        </p:txBody>
      </p:sp>
      <p:sp>
        <p:nvSpPr>
          <p:cNvPr id="26" name="Target label"/>
          <p:cNvSpPr txBox="1"/>
          <p:nvPr/>
        </p:nvSpPr>
        <p:spPr>
          <a:xfrm>
            <a:off x="8366760" y="2834640"/>
            <a:ext cx="3017520" cy="640080"/>
          </a:xfrm>
          <a:prstGeom prst="rect">
            <a:avLst/>
          </a:prstGeom>
          <a:noFill/>
          <a:ln/>
        </p:spPr>
        <p:txBody>
          <a:bodyPr wrap="square" lIns="0" tIns="0" rIns="0" bIns="0" rtlCol="0" anchor="ctr"/>
          <a:lstStyle/>
          <a:p>
            <a:pPr indent="0" marL="0">
              <a:buNone/>
            </a:pPr>
            <a:r>
              <a:rPr lang="en-US" sz="1400" dirty="0">
                <a:solidFill>
                  <a:schemeClr val="accent6"/>
                </a:solidFill>
              </a:rPr>
              <a:t>classification accuracy required by the project guide</a:t>
            </a:r>
            <a:endParaRPr lang="en-US" sz="1400" dirty="0"/>
          </a:p>
        </p:txBody>
      </p:sp>
      <p:sp>
        <p:nvSpPr>
          <p:cNvPr id="27" name="Achieved head"/>
          <p:cNvSpPr txBox="1"/>
          <p:nvPr/>
        </p:nvSpPr>
        <p:spPr>
          <a:xfrm>
            <a:off x="8366760" y="3794760"/>
            <a:ext cx="3017520" cy="365760"/>
          </a:xfrm>
          <a:prstGeom prst="rect">
            <a:avLst/>
          </a:prstGeom>
          <a:noFill/>
          <a:ln/>
        </p:spPr>
        <p:txBody>
          <a:bodyPr wrap="square" lIns="0" tIns="0" rIns="0" bIns="0" rtlCol="0" anchor="ctr"/>
          <a:lstStyle/>
          <a:p>
            <a:pPr indent="0" marL="0">
              <a:buNone/>
            </a:pPr>
            <a:r>
              <a:rPr lang="en-US" sz="1600" b="1" dirty="0">
                <a:solidFill>
                  <a:schemeClr val="accent6"/>
                </a:solidFill>
              </a:rPr>
              <a:t>Achieved</a:t>
            </a:r>
            <a:endParaRPr lang="en-US" sz="1600" dirty="0"/>
          </a:p>
        </p:txBody>
      </p:sp>
      <p:sp>
        <p:nvSpPr>
          <p:cNvPr id="28" name="Achieved value"/>
          <p:cNvSpPr txBox="1"/>
          <p:nvPr/>
        </p:nvSpPr>
        <p:spPr>
          <a:xfrm>
            <a:off x="8366760" y="4160520"/>
            <a:ext cx="3017520" cy="82296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96.5%</a:t>
            </a:r>
            <a:endParaRPr lang="en-US" sz="4400" dirty="0"/>
          </a:p>
        </p:txBody>
      </p:sp>
      <p:sp>
        <p:nvSpPr>
          <p:cNvPr id="29" name="Achieved label"/>
          <p:cNvSpPr txBox="1"/>
          <p:nvPr/>
        </p:nvSpPr>
        <p:spPr>
          <a:xfrm>
            <a:off x="8366760" y="4983480"/>
            <a:ext cx="3017520" cy="365760"/>
          </a:xfrm>
          <a:prstGeom prst="rect">
            <a:avLst/>
          </a:prstGeom>
          <a:noFill/>
          <a:ln/>
        </p:spPr>
        <p:txBody>
          <a:bodyPr wrap="square" lIns="0" tIns="0" rIns="0" bIns="0" rtlCol="0" anchor="ctr"/>
          <a:lstStyle/>
          <a:p>
            <a:pPr indent="0" marL="0">
              <a:buNone/>
            </a:pPr>
            <a:r>
              <a:rPr lang="en-US" sz="1400" dirty="0">
                <a:solidFill>
                  <a:schemeClr val="accent6"/>
                </a:solidFill>
              </a:rPr>
              <a:t>on 114 unseen test patients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Dataset: Breast Cancer Wisconsin (Diagnostic)</a:t>
            </a:r>
            <a:endParaRPr lang="en-US" sz="3400" dirty="0"/>
          </a:p>
        </p:txBody>
      </p:sp>
      <p:graphicFrame>
        <p:nvGraphicFramePr>
          <p:cNvPr id="5" name="Dataset table"/>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a:tblGrid>
                <a:gridCol w="1463040"/>
                <a:gridCol w="4846320"/>
              </a:tblGrid>
              <a:tr h="502920">
                <a:tc>
                  <a:txBody>
                    <a:bodyPr/>
                    <a:lstStyle/>
                    <a:p>
                      <a:pPr indent="0" marL="0">
                        <a:buNone/>
                      </a:pPr>
                      <a:r>
                        <a:rPr lang="en-US" sz="1400" b="1" dirty="0">
                          <a:solidFill>
                            <a:srgbClr val="3A1F33"/>
                          </a:solidFill>
                          <a:latin typeface="Calibri" pitchFamily="34" charset="0"/>
                          <a:ea typeface="Calibri" pitchFamily="34" charset="-122"/>
                          <a:cs typeface="Calibri" pitchFamily="34" charset="-120"/>
                        </a:rPr>
                        <a:t>Source</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solidFill>
                      <a:srgbClr val="F6F1F4"/>
                    </a:solidFill>
                  </a:tcPr>
                </a:tc>
                <a:tc>
                  <a:txBody>
                    <a:bodyPr/>
                    <a:lstStyle/>
                    <a:p>
                      <a:pPr indent="0" marL="0">
                        <a:buNone/>
                      </a:pPr>
                      <a:r>
                        <a:rPr lang="en-US" sz="1400" dirty="0">
                          <a:solidFill>
                            <a:srgbClr val="1E1A1D"/>
                          </a:solidFill>
                          <a:latin typeface="Calibri" pitchFamily="34" charset="0"/>
                          <a:ea typeface="Calibri" pitchFamily="34" charset="-122"/>
                          <a:cs typeface="Calibri" pitchFamily="34" charset="-120"/>
                        </a:rPr>
                        <a:t>UCI ML Repository (Wolberg et al., 1995), bundled in scikit-learn</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r>
              <a:tr h="457200">
                <a:tc>
                  <a:txBody>
                    <a:bodyPr/>
                    <a:lstStyle/>
                    <a:p>
                      <a:pPr indent="0" marL="0">
                        <a:buNone/>
                      </a:pPr>
                      <a:r>
                        <a:rPr lang="en-US" sz="1400" b="1" dirty="0">
                          <a:solidFill>
                            <a:srgbClr val="3A1F33"/>
                          </a:solidFill>
                          <a:latin typeface="Calibri" pitchFamily="34" charset="0"/>
                          <a:ea typeface="Calibri" pitchFamily="34" charset="-122"/>
                          <a:cs typeface="Calibri" pitchFamily="34" charset="-120"/>
                        </a:rPr>
                        <a:t>Patients</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solidFill>
                      <a:srgbClr val="F6F1F4"/>
                    </a:solidFill>
                  </a:tcPr>
                </a:tc>
                <a:tc>
                  <a:txBody>
                    <a:bodyPr/>
                    <a:lstStyle/>
                    <a:p>
                      <a:pPr indent="0" marL="0">
                        <a:buNone/>
                      </a:pPr>
                      <a:r>
                        <a:rPr lang="en-US" sz="1400" dirty="0">
                          <a:solidFill>
                            <a:srgbClr val="1E1A1D"/>
                          </a:solidFill>
                          <a:latin typeface="Calibri" pitchFamily="34" charset="0"/>
                          <a:ea typeface="Calibri" pitchFamily="34" charset="-122"/>
                          <a:cs typeface="Calibri" pitchFamily="34" charset="-120"/>
                        </a:rPr>
                        <a:t>569 (one fine-needle aspirate each)</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r>
              <a:tr h="594360">
                <a:tc>
                  <a:txBody>
                    <a:bodyPr/>
                    <a:lstStyle/>
                    <a:p>
                      <a:pPr indent="0" marL="0">
                        <a:buNone/>
                      </a:pPr>
                      <a:r>
                        <a:rPr lang="en-US" sz="1400" b="1" dirty="0">
                          <a:solidFill>
                            <a:srgbClr val="3A1F33"/>
                          </a:solidFill>
                          <a:latin typeface="Calibri" pitchFamily="34" charset="0"/>
                          <a:ea typeface="Calibri" pitchFamily="34" charset="-122"/>
                          <a:cs typeface="Calibri" pitchFamily="34" charset="-120"/>
                        </a:rPr>
                        <a:t>Features</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solidFill>
                      <a:srgbClr val="F6F1F4"/>
                    </a:solidFill>
                  </a:tcPr>
                </a:tc>
                <a:tc>
                  <a:txBody>
                    <a:bodyPr/>
                    <a:lstStyle/>
                    <a:p>
                      <a:pPr indent="0" marL="0">
                        <a:buNone/>
                      </a:pPr>
                      <a:r>
                        <a:rPr lang="en-US" sz="1400" dirty="0">
                          <a:solidFill>
                            <a:srgbClr val="1E1A1D"/>
                          </a:solidFill>
                          <a:latin typeface="Calibri" pitchFamily="34" charset="0"/>
                          <a:ea typeface="Calibri" pitchFamily="34" charset="-122"/>
                          <a:cs typeface="Calibri" pitchFamily="34" charset="-120"/>
                        </a:rPr>
                        <a:t>30 numeric: 10 nucleus properties × mean, standard error, worst</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r>
              <a:tr h="914400">
                <a:tc>
                  <a:txBody>
                    <a:bodyPr/>
                    <a:lstStyle/>
                    <a:p>
                      <a:pPr indent="0" marL="0">
                        <a:buNone/>
                      </a:pPr>
                      <a:r>
                        <a:rPr lang="en-US" sz="1400" b="1" dirty="0">
                          <a:solidFill>
                            <a:srgbClr val="3A1F33"/>
                          </a:solidFill>
                          <a:latin typeface="Calibri" pitchFamily="34" charset="0"/>
                          <a:ea typeface="Calibri" pitchFamily="34" charset="-122"/>
                          <a:cs typeface="Calibri" pitchFamily="34" charset="-120"/>
                        </a:rPr>
                        <a:t>Properties</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solidFill>
                      <a:srgbClr val="F6F1F4"/>
                    </a:solidFill>
                  </a:tcPr>
                </a:tc>
                <a:tc>
                  <a:txBody>
                    <a:bodyPr/>
                    <a:lstStyle/>
                    <a:p>
                      <a:pPr indent="0" marL="0">
                        <a:buNone/>
                      </a:pPr>
                      <a:r>
                        <a:rPr lang="en-US" sz="1400" dirty="0">
                          <a:solidFill>
                            <a:srgbClr val="1E1A1D"/>
                          </a:solidFill>
                          <a:latin typeface="Calibri" pitchFamily="34" charset="0"/>
                          <a:ea typeface="Calibri" pitchFamily="34" charset="-122"/>
                          <a:cs typeface="Calibri" pitchFamily="34" charset="-120"/>
                        </a:rPr>
                        <a:t>radius, texture, perimeter, area, smoothness, compactness, concavity, concave points, symmetry, fractal dimension</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r>
              <a:tr h="457200">
                <a:tc>
                  <a:txBody>
                    <a:bodyPr/>
                    <a:lstStyle/>
                    <a:p>
                      <a:pPr indent="0" marL="0">
                        <a:buNone/>
                      </a:pPr>
                      <a:r>
                        <a:rPr lang="en-US" sz="1400" b="1" dirty="0">
                          <a:solidFill>
                            <a:srgbClr val="3A1F33"/>
                          </a:solidFill>
                          <a:latin typeface="Calibri" pitchFamily="34" charset="0"/>
                          <a:ea typeface="Calibri" pitchFamily="34" charset="-122"/>
                          <a:cs typeface="Calibri" pitchFamily="34" charset="-120"/>
                        </a:rPr>
                        <a:t>Target</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solidFill>
                      <a:srgbClr val="F6F1F4"/>
                    </a:solidFill>
                  </a:tcPr>
                </a:tc>
                <a:tc>
                  <a:txBody>
                    <a:bodyPr/>
                    <a:lstStyle/>
                    <a:p>
                      <a:pPr indent="0" marL="0">
                        <a:buNone/>
                      </a:pPr>
                      <a:r>
                        <a:rPr lang="en-US" sz="1400" dirty="0">
                          <a:solidFill>
                            <a:srgbClr val="1E1A1D"/>
                          </a:solidFill>
                          <a:latin typeface="Calibri" pitchFamily="34" charset="0"/>
                          <a:ea typeface="Calibri" pitchFamily="34" charset="-122"/>
                          <a:cs typeface="Calibri" pitchFamily="34" charset="-120"/>
                        </a:rPr>
                        <a:t>0 = Malignant, 1 = Benign</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r>
              <a:tr h="457200">
                <a:tc>
                  <a:txBody>
                    <a:bodyPr/>
                    <a:lstStyle/>
                    <a:p>
                      <a:pPr indent="0" marL="0">
                        <a:buNone/>
                      </a:pPr>
                      <a:r>
                        <a:rPr lang="en-US" sz="1400" b="1" dirty="0">
                          <a:solidFill>
                            <a:srgbClr val="3A1F33"/>
                          </a:solidFill>
                          <a:latin typeface="Calibri" pitchFamily="34" charset="0"/>
                          <a:ea typeface="Calibri" pitchFamily="34" charset="-122"/>
                          <a:cs typeface="Calibri" pitchFamily="34" charset="-120"/>
                        </a:rPr>
                        <a:t>Data quality</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solidFill>
                      <a:srgbClr val="F6F1F4"/>
                    </a:solidFill>
                  </a:tcPr>
                </a:tc>
                <a:tc>
                  <a:txBody>
                    <a:bodyPr/>
                    <a:lstStyle/>
                    <a:p>
                      <a:pPr indent="0" marL="0">
                        <a:buNone/>
                      </a:pPr>
                      <a:r>
                        <a:rPr lang="en-US" sz="1400" dirty="0">
                          <a:solidFill>
                            <a:srgbClr val="1E1A1D"/>
                          </a:solidFill>
                          <a:latin typeface="Calibri" pitchFamily="34" charset="0"/>
                          <a:ea typeface="Calibri" pitchFamily="34" charset="-122"/>
                          <a:cs typeface="Calibri" pitchFamily="34" charset="-120"/>
                        </a:rPr>
                        <a:t>0 missing values, 0 duplicate rows</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r>
            </a:tbl>
          </a:graphicData>
        </a:graphic>
      </p:graphicFrame>
      <p:graphicFrame>
        <p:nvGraphicFramePr>
          <p:cNvPr id="4" name="Class distribution chart" descr=""/>
          <p:cNvGraphicFramePr/>
          <p:nvPr/>
        </p:nvGraphicFramePr>
        <p:xfrm>
          <a:off x="7223760" y="1280160"/>
          <a:ext cx="4389120" cy="3931920"/>
        </p:xfrm>
        <a:graphic xmlns:a="http://schemas.openxmlformats.org/drawingml/2006/main">
          <a:graphicData uri="http://schemas.openxmlformats.org/drawingml/2006/chart">
            <c:chart xmlns:c="http://schemas.openxmlformats.org/drawingml/2006/chart" r:id="rId1"/>
          </a:graphicData>
        </a:graphic>
      </p:graphicFrame>
      <p:sp>
        <p:nvSpPr>
          <p:cNvPr id="5" name="Balance note"/>
          <p:cNvSpPr txBox="1"/>
          <p:nvPr/>
        </p:nvSpPr>
        <p:spPr>
          <a:xfrm>
            <a:off x="7223760" y="5303520"/>
            <a:ext cx="4389120" cy="685800"/>
          </a:xfrm>
          <a:prstGeom prst="rect">
            <a:avLst/>
          </a:prstGeom>
          <a:noFill/>
          <a:ln/>
        </p:spPr>
        <p:txBody>
          <a:bodyPr wrap="square" lIns="0" tIns="0" rIns="0" bIns="0" rtlCol="0" anchor="ctr"/>
          <a:lstStyle/>
          <a:p>
            <a:pPr indent="0" marL="0">
              <a:buNone/>
            </a:pPr>
            <a:r>
              <a:rPr lang="en-US" sz="1400" dirty="0">
                <a:solidFill>
                  <a:schemeClr val="accent5"/>
                </a:solidFill>
              </a:rPr>
              <a:t>37.3% malignant · 62.7% benign → moderately imbalanced, so splits are stratified and malignant recall is tracked</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Exploratory analysis: what separates the two classes</a:t>
            </a:r>
            <a:endParaRPr lang="en-US" sz="3400" dirty="0"/>
          </a:p>
        </p:txBody>
      </p:sp>
      <p:pic>
        <p:nvPicPr>
          <p:cNvPr id="3" name="Feature distributions" descr="/home/claude/project/breast-cancer-classification-nn/results/figures/02_feature_distributions.png">    </p:cNvPr>
          <p:cNvPicPr>
            <a:picLocks noChangeAspect="1"/>
          </p:cNvPicPr>
          <p:nvPr/>
        </p:nvPicPr>
        <p:blipFill>
          <a:blip r:embed="rId1"/>
          <a:stretch>
            <a:fillRect/>
          </a:stretch>
        </p:blipFill>
        <p:spPr>
          <a:xfrm>
            <a:off x="457200" y="1299958"/>
            <a:ext cx="7589520" cy="4075204"/>
          </a:xfrm>
          <a:prstGeom prst="rect">
            <a:avLst/>
          </a:prstGeom>
        </p:spPr>
      </p:pic>
      <p:sp>
        <p:nvSpPr>
          <p:cNvPr id="4" name="Insight card 1"/>
          <p:cNvSpPr/>
          <p:nvPr/>
        </p:nvSpPr>
        <p:spPr>
          <a:xfrm>
            <a:off x="8321040" y="1325880"/>
            <a:ext cx="3291840" cy="1325880"/>
          </a:xfrm>
          <a:prstGeom prst="roundRect">
            <a:avLst>
              <a:gd name="adj" fmla="val 8276"/>
            </a:avLst>
          </a:prstGeom>
          <a:solidFill>
            <a:schemeClr val="bg2"/>
          </a:solidFill>
          <a:ln/>
        </p:spPr>
      </p:sp>
      <p:sp>
        <p:nvSpPr>
          <p:cNvPr id="5" name="Insight 1"/>
          <p:cNvSpPr txBox="1"/>
          <p:nvPr/>
        </p:nvSpPr>
        <p:spPr>
          <a:xfrm>
            <a:off x="8503920" y="1417320"/>
            <a:ext cx="2971800" cy="1143000"/>
          </a:xfrm>
          <a:prstGeom prst="rect">
            <a:avLst/>
          </a:prstGeom>
          <a:noFill/>
          <a:ln/>
        </p:spPr>
        <p:txBody>
          <a:bodyPr wrap="square" lIns="0" tIns="0" rIns="0" bIns="0" rtlCol="0" anchor="t"/>
          <a:lstStyle/>
          <a:p>
            <a:pPr indent="0" marL="0">
              <a:spcAft>
                <a:spcPts val="300"/>
              </a:spcAft>
              <a:buNone/>
            </a:pPr>
            <a:r>
              <a:rPr lang="en-US" sz="1600" b="1" dirty="0">
                <a:solidFill>
                  <a:schemeClr val="accent1"/>
                </a:solidFill>
              </a:rPr>
              <a:t>Size</a:t>
            </a:r>
            <a:endParaRPr lang="en-US" sz="1600" dirty="0"/>
          </a:p>
          <a:p>
            <a:pPr indent="0" marL="0">
              <a:spcAft>
                <a:spcPts val="300"/>
              </a:spcAft>
              <a:buNone/>
            </a:pPr>
            <a:r>
              <a:rPr lang="en-US" sz="1400" dirty="0">
                <a:solidFill>
                  <a:schemeClr val="tx1"/>
                </a:solidFill>
              </a:rPr>
              <a:t>Malignant nuclei are larger: mean radius 17.5 vs 12.1, mean area 978 vs 463</a:t>
            </a:r>
            <a:endParaRPr lang="en-US" sz="1600" dirty="0"/>
          </a:p>
        </p:txBody>
      </p:sp>
      <p:sp>
        <p:nvSpPr>
          <p:cNvPr id="6" name="Insight card 2"/>
          <p:cNvSpPr/>
          <p:nvPr/>
        </p:nvSpPr>
        <p:spPr>
          <a:xfrm>
            <a:off x="8321040" y="2788920"/>
            <a:ext cx="3291840" cy="1325880"/>
          </a:xfrm>
          <a:prstGeom prst="roundRect">
            <a:avLst>
              <a:gd name="adj" fmla="val 8276"/>
            </a:avLst>
          </a:prstGeom>
          <a:solidFill>
            <a:schemeClr val="bg2"/>
          </a:solidFill>
          <a:ln/>
        </p:spPr>
      </p:sp>
      <p:sp>
        <p:nvSpPr>
          <p:cNvPr id="7" name="Insight 2"/>
          <p:cNvSpPr txBox="1"/>
          <p:nvPr/>
        </p:nvSpPr>
        <p:spPr>
          <a:xfrm>
            <a:off x="8503920" y="2880360"/>
            <a:ext cx="2971800" cy="1143000"/>
          </a:xfrm>
          <a:prstGeom prst="rect">
            <a:avLst/>
          </a:prstGeom>
          <a:noFill/>
          <a:ln/>
        </p:spPr>
        <p:txBody>
          <a:bodyPr wrap="square" lIns="0" tIns="0" rIns="0" bIns="0" rtlCol="0" anchor="t"/>
          <a:lstStyle/>
          <a:p>
            <a:pPr indent="0" marL="0">
              <a:spcAft>
                <a:spcPts val="300"/>
              </a:spcAft>
              <a:buNone/>
            </a:pPr>
            <a:r>
              <a:rPr lang="en-US" sz="1600" b="1" dirty="0">
                <a:solidFill>
                  <a:schemeClr val="accent1"/>
                </a:solidFill>
              </a:rPr>
              <a:t>Shape</a:t>
            </a:r>
            <a:endParaRPr lang="en-US" sz="1600" dirty="0"/>
          </a:p>
          <a:p>
            <a:pPr indent="0" marL="0">
              <a:spcAft>
                <a:spcPts val="300"/>
              </a:spcAft>
              <a:buNone/>
            </a:pPr>
            <a:r>
              <a:rPr lang="en-US" sz="1400" dirty="0">
                <a:solidFill>
                  <a:schemeClr val="tx1"/>
                </a:solidFill>
              </a:rPr>
              <a:t>Malignant cells have more concave (indented) boundaries: concave points 0.088 vs 0.026</a:t>
            </a:r>
            <a:endParaRPr lang="en-US" sz="1600" dirty="0"/>
          </a:p>
        </p:txBody>
      </p:sp>
      <p:sp>
        <p:nvSpPr>
          <p:cNvPr id="8" name="Insight card 3"/>
          <p:cNvSpPr/>
          <p:nvPr/>
        </p:nvSpPr>
        <p:spPr>
          <a:xfrm>
            <a:off x="8321040" y="4251960"/>
            <a:ext cx="3291840" cy="1325880"/>
          </a:xfrm>
          <a:prstGeom prst="roundRect">
            <a:avLst>
              <a:gd name="adj" fmla="val 8276"/>
            </a:avLst>
          </a:prstGeom>
          <a:solidFill>
            <a:schemeClr val="bg2"/>
          </a:solidFill>
          <a:ln/>
        </p:spPr>
      </p:sp>
      <p:sp>
        <p:nvSpPr>
          <p:cNvPr id="9" name="Insight 3"/>
          <p:cNvSpPr txBox="1"/>
          <p:nvPr/>
        </p:nvSpPr>
        <p:spPr>
          <a:xfrm>
            <a:off x="8503920" y="4343400"/>
            <a:ext cx="2971800" cy="1143000"/>
          </a:xfrm>
          <a:prstGeom prst="rect">
            <a:avLst/>
          </a:prstGeom>
          <a:noFill/>
          <a:ln/>
        </p:spPr>
        <p:txBody>
          <a:bodyPr wrap="square" lIns="0" tIns="0" rIns="0" bIns="0" rtlCol="0" anchor="t"/>
          <a:lstStyle/>
          <a:p>
            <a:pPr indent="0" marL="0">
              <a:spcAft>
                <a:spcPts val="300"/>
              </a:spcAft>
              <a:buNone/>
            </a:pPr>
            <a:r>
              <a:rPr lang="en-US" sz="1600" b="1" dirty="0">
                <a:solidFill>
                  <a:schemeClr val="accent1"/>
                </a:solidFill>
              </a:rPr>
              <a:t>Redundancy</a:t>
            </a:r>
            <a:endParaRPr lang="en-US" sz="1600" dirty="0"/>
          </a:p>
          <a:p>
            <a:pPr indent="0" marL="0">
              <a:spcAft>
                <a:spcPts val="300"/>
              </a:spcAft>
              <a:buNone/>
            </a:pPr>
            <a:r>
              <a:rPr lang="en-US" sz="1400" dirty="0">
                <a:solidFill>
                  <a:schemeClr val="tx1"/>
                </a:solidFill>
              </a:rPr>
              <a:t>Radius, perimeter and area are 0.99 correlated, so they all describe size</a:t>
            </a:r>
            <a:endParaRPr lang="en-US" sz="1600" dirty="0"/>
          </a:p>
        </p:txBody>
      </p:sp>
      <p:sp>
        <p:nvSpPr>
          <p:cNvPr id="10" name="EDA caption"/>
          <p:cNvSpPr txBox="1"/>
          <p:nvPr/>
        </p:nvSpPr>
        <p:spPr>
          <a:xfrm>
            <a:off x="548640" y="5577840"/>
            <a:ext cx="7498080" cy="457200"/>
          </a:xfrm>
          <a:prstGeom prst="rect">
            <a:avLst/>
          </a:prstGeom>
          <a:noFill/>
          <a:ln/>
        </p:spPr>
        <p:txBody>
          <a:bodyPr wrap="square" lIns="0" tIns="0" rIns="0" bIns="0" rtlCol="0" anchor="ctr"/>
          <a:lstStyle/>
          <a:p>
            <a:pPr indent="0" marL="0">
              <a:buNone/>
            </a:pPr>
            <a:r>
              <a:rPr lang="en-US" sz="1400" i="1" dirty="0">
                <a:solidFill>
                  <a:schemeClr val="accent5"/>
                </a:solidFill>
              </a:rPr>
              <a:t>Orange = malignant, blue = benign. Overlap is small on size and concavity, so high accuracy is achievable.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Methodology: a seven-phase workflow</a:t>
            </a:r>
            <a:endParaRPr lang="en-US" sz="3400" dirty="0"/>
          </a:p>
        </p:txBody>
      </p:sp>
      <p:sp>
        <p:nvSpPr>
          <p:cNvPr id="3" name="Phase card 1"/>
          <p:cNvSpPr/>
          <p:nvPr/>
        </p:nvSpPr>
        <p:spPr>
          <a:xfrm>
            <a:off x="548640" y="1508760"/>
            <a:ext cx="1463040" cy="2834640"/>
          </a:xfrm>
          <a:prstGeom prst="roundRect">
            <a:avLst>
              <a:gd name="adj" fmla="val 7500"/>
            </a:avLst>
          </a:prstGeom>
          <a:solidFill>
            <a:schemeClr val="accent6"/>
          </a:solidFill>
          <a:ln/>
        </p:spPr>
      </p:sp>
      <p:sp>
        <p:nvSpPr>
          <p:cNvPr id="4" name="Phase 1 badge"/>
          <p:cNvSpPr/>
          <p:nvPr/>
        </p:nvSpPr>
        <p:spPr>
          <a:xfrm>
            <a:off x="978408" y="1691640"/>
            <a:ext cx="603504" cy="603504"/>
          </a:xfrm>
          <a:prstGeom prst="ellipse">
            <a:avLst/>
          </a:prstGeom>
          <a:solidFill>
            <a:schemeClr val="accent1"/>
          </a:solidFill>
          <a:ln/>
        </p:spPr>
      </p:sp>
      <p:sp>
        <p:nvSpPr>
          <p:cNvPr id="5" name="Phase 1 number"/>
          <p:cNvSpPr txBox="1"/>
          <p:nvPr/>
        </p:nvSpPr>
        <p:spPr>
          <a:xfrm>
            <a:off x="978408" y="1691640"/>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Phase 1 head"/>
          <p:cNvSpPr txBox="1"/>
          <p:nvPr/>
        </p:nvSpPr>
        <p:spPr>
          <a:xfrm>
            <a:off x="640080" y="2423160"/>
            <a:ext cx="1280160" cy="685800"/>
          </a:xfrm>
          <a:prstGeom prst="rect">
            <a:avLst/>
          </a:prstGeom>
          <a:noFill/>
          <a:ln/>
        </p:spPr>
        <p:txBody>
          <a:bodyPr wrap="square" lIns="0" tIns="0" rIns="0" bIns="0" rtlCol="0" anchor="ctr"/>
          <a:lstStyle/>
          <a:p>
            <a:pPr algn="ctr" indent="0" marL="0">
              <a:buNone/>
            </a:pPr>
            <a:r>
              <a:rPr lang="en-US" sz="1500" b="1" dirty="0">
                <a:solidFill>
                  <a:schemeClr val="tx2"/>
                </a:solidFill>
              </a:rPr>
              <a:t>Data collection</a:t>
            </a:r>
            <a:endParaRPr lang="en-US" sz="1500" dirty="0"/>
          </a:p>
        </p:txBody>
      </p:sp>
      <p:sp>
        <p:nvSpPr>
          <p:cNvPr id="7" name="Phase 1 text"/>
          <p:cNvSpPr txBox="1"/>
          <p:nvPr/>
        </p:nvSpPr>
        <p:spPr>
          <a:xfrm>
            <a:off x="658368" y="3154680"/>
            <a:ext cx="1243584" cy="1051560"/>
          </a:xfrm>
          <a:prstGeom prst="rect">
            <a:avLst/>
          </a:prstGeom>
          <a:noFill/>
          <a:ln/>
        </p:spPr>
        <p:txBody>
          <a:bodyPr wrap="square" lIns="0" tIns="0" rIns="0" bIns="0" rtlCol="0" anchor="t"/>
          <a:lstStyle/>
          <a:p>
            <a:pPr algn="ctr" indent="0" marL="0">
              <a:buNone/>
            </a:pPr>
            <a:r>
              <a:rPr lang="en-US" sz="1400" dirty="0">
                <a:solidFill>
                  <a:schemeClr val="tx1"/>
                </a:solidFill>
              </a:rPr>
              <a:t>Load 569 patients from scikit-learn</a:t>
            </a:r>
            <a:endParaRPr lang="en-US" sz="1400" dirty="0"/>
          </a:p>
        </p:txBody>
      </p:sp>
      <p:sp>
        <p:nvSpPr>
          <p:cNvPr id="8" name="Phase card 2"/>
          <p:cNvSpPr/>
          <p:nvPr/>
        </p:nvSpPr>
        <p:spPr>
          <a:xfrm>
            <a:off x="2148840" y="1508760"/>
            <a:ext cx="1463040" cy="2834640"/>
          </a:xfrm>
          <a:prstGeom prst="roundRect">
            <a:avLst>
              <a:gd name="adj" fmla="val 7500"/>
            </a:avLst>
          </a:prstGeom>
          <a:solidFill>
            <a:schemeClr val="bg2"/>
          </a:solidFill>
          <a:ln/>
        </p:spPr>
      </p:sp>
      <p:sp>
        <p:nvSpPr>
          <p:cNvPr id="9" name="Phase 2 badge"/>
          <p:cNvSpPr/>
          <p:nvPr/>
        </p:nvSpPr>
        <p:spPr>
          <a:xfrm>
            <a:off x="2578608" y="1691640"/>
            <a:ext cx="603504" cy="603504"/>
          </a:xfrm>
          <a:prstGeom prst="ellipse">
            <a:avLst/>
          </a:prstGeom>
          <a:solidFill>
            <a:schemeClr val="accent1"/>
          </a:solidFill>
          <a:ln/>
        </p:spPr>
      </p:sp>
      <p:sp>
        <p:nvSpPr>
          <p:cNvPr id="10" name="Phase 2 number"/>
          <p:cNvSpPr txBox="1"/>
          <p:nvPr/>
        </p:nvSpPr>
        <p:spPr>
          <a:xfrm>
            <a:off x="2578608" y="1691640"/>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Phase 2 head"/>
          <p:cNvSpPr txBox="1"/>
          <p:nvPr/>
        </p:nvSpPr>
        <p:spPr>
          <a:xfrm>
            <a:off x="2240280" y="2423160"/>
            <a:ext cx="1280160" cy="685800"/>
          </a:xfrm>
          <a:prstGeom prst="rect">
            <a:avLst/>
          </a:prstGeom>
          <a:noFill/>
          <a:ln/>
        </p:spPr>
        <p:txBody>
          <a:bodyPr wrap="square" lIns="0" tIns="0" rIns="0" bIns="0" rtlCol="0" anchor="ctr"/>
          <a:lstStyle/>
          <a:p>
            <a:pPr algn="ctr" indent="0" marL="0">
              <a:buNone/>
            </a:pPr>
            <a:r>
              <a:rPr lang="en-US" sz="1500" b="1" dirty="0">
                <a:solidFill>
                  <a:schemeClr val="tx2"/>
                </a:solidFill>
              </a:rPr>
              <a:t>Data cleaning</a:t>
            </a:r>
            <a:endParaRPr lang="en-US" sz="1500" dirty="0"/>
          </a:p>
        </p:txBody>
      </p:sp>
      <p:sp>
        <p:nvSpPr>
          <p:cNvPr id="12" name="Phase 2 text"/>
          <p:cNvSpPr txBox="1"/>
          <p:nvPr/>
        </p:nvSpPr>
        <p:spPr>
          <a:xfrm>
            <a:off x="2258568" y="3154680"/>
            <a:ext cx="1243584" cy="1051560"/>
          </a:xfrm>
          <a:prstGeom prst="rect">
            <a:avLst/>
          </a:prstGeom>
          <a:noFill/>
          <a:ln/>
        </p:spPr>
        <p:txBody>
          <a:bodyPr wrap="square" lIns="0" tIns="0" rIns="0" bIns="0" rtlCol="0" anchor="t"/>
          <a:lstStyle/>
          <a:p>
            <a:pPr algn="ctr" indent="0" marL="0">
              <a:buNone/>
            </a:pPr>
            <a:r>
              <a:rPr lang="en-US" sz="1400" dirty="0">
                <a:solidFill>
                  <a:schemeClr val="tx1"/>
                </a:solidFill>
              </a:rPr>
              <a:t>Check missing values and duplicates</a:t>
            </a:r>
            <a:endParaRPr lang="en-US" sz="1400" dirty="0"/>
          </a:p>
        </p:txBody>
      </p:sp>
      <p:sp>
        <p:nvSpPr>
          <p:cNvPr id="13" name="Phase card 3"/>
          <p:cNvSpPr/>
          <p:nvPr/>
        </p:nvSpPr>
        <p:spPr>
          <a:xfrm>
            <a:off x="3749040" y="1508760"/>
            <a:ext cx="1463040" cy="2834640"/>
          </a:xfrm>
          <a:prstGeom prst="roundRect">
            <a:avLst>
              <a:gd name="adj" fmla="val 7500"/>
            </a:avLst>
          </a:prstGeom>
          <a:solidFill>
            <a:schemeClr val="accent6"/>
          </a:solidFill>
          <a:ln/>
        </p:spPr>
      </p:sp>
      <p:sp>
        <p:nvSpPr>
          <p:cNvPr id="14" name="Phase 3 badge"/>
          <p:cNvSpPr/>
          <p:nvPr/>
        </p:nvSpPr>
        <p:spPr>
          <a:xfrm>
            <a:off x="4178808" y="1691640"/>
            <a:ext cx="603504" cy="603504"/>
          </a:xfrm>
          <a:prstGeom prst="ellipse">
            <a:avLst/>
          </a:prstGeom>
          <a:solidFill>
            <a:schemeClr val="accent1"/>
          </a:solidFill>
          <a:ln/>
        </p:spPr>
      </p:sp>
      <p:sp>
        <p:nvSpPr>
          <p:cNvPr id="15" name="Phase 3 number"/>
          <p:cNvSpPr txBox="1"/>
          <p:nvPr/>
        </p:nvSpPr>
        <p:spPr>
          <a:xfrm>
            <a:off x="4178808" y="1691640"/>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6" name="Phase 3 head"/>
          <p:cNvSpPr txBox="1"/>
          <p:nvPr/>
        </p:nvSpPr>
        <p:spPr>
          <a:xfrm>
            <a:off x="3840480" y="2423160"/>
            <a:ext cx="1280160" cy="685800"/>
          </a:xfrm>
          <a:prstGeom prst="rect">
            <a:avLst/>
          </a:prstGeom>
          <a:noFill/>
          <a:ln/>
        </p:spPr>
        <p:txBody>
          <a:bodyPr wrap="square" lIns="0" tIns="0" rIns="0" bIns="0" rtlCol="0" anchor="ctr"/>
          <a:lstStyle/>
          <a:p>
            <a:pPr algn="ctr" indent="0" marL="0">
              <a:buNone/>
            </a:pPr>
            <a:r>
              <a:rPr lang="en-US" sz="1500" b="1" dirty="0">
                <a:solidFill>
                  <a:schemeClr val="tx2"/>
                </a:solidFill>
              </a:rPr>
              <a:t>Preprocessing</a:t>
            </a:r>
            <a:endParaRPr lang="en-US" sz="1500" dirty="0"/>
          </a:p>
        </p:txBody>
      </p:sp>
      <p:sp>
        <p:nvSpPr>
          <p:cNvPr id="17" name="Phase 3 text"/>
          <p:cNvSpPr txBox="1"/>
          <p:nvPr/>
        </p:nvSpPr>
        <p:spPr>
          <a:xfrm>
            <a:off x="3858768" y="3154680"/>
            <a:ext cx="1243584" cy="1051560"/>
          </a:xfrm>
          <a:prstGeom prst="rect">
            <a:avLst/>
          </a:prstGeom>
          <a:noFill/>
          <a:ln/>
        </p:spPr>
        <p:txBody>
          <a:bodyPr wrap="square" lIns="0" tIns="0" rIns="0" bIns="0" rtlCol="0" anchor="t"/>
          <a:lstStyle/>
          <a:p>
            <a:pPr algn="ctr" indent="0" marL="0">
              <a:buNone/>
            </a:pPr>
            <a:r>
              <a:rPr lang="en-US" sz="1400" dirty="0">
                <a:solidFill>
                  <a:schemeClr val="tx1"/>
                </a:solidFill>
              </a:rPr>
              <a:t>Stratified split + feature scaling</a:t>
            </a:r>
            <a:endParaRPr lang="en-US" sz="1400" dirty="0"/>
          </a:p>
        </p:txBody>
      </p:sp>
      <p:sp>
        <p:nvSpPr>
          <p:cNvPr id="18" name="Phase card 4"/>
          <p:cNvSpPr/>
          <p:nvPr/>
        </p:nvSpPr>
        <p:spPr>
          <a:xfrm>
            <a:off x="5349240" y="1508760"/>
            <a:ext cx="1463040" cy="2834640"/>
          </a:xfrm>
          <a:prstGeom prst="roundRect">
            <a:avLst>
              <a:gd name="adj" fmla="val 7500"/>
            </a:avLst>
          </a:prstGeom>
          <a:solidFill>
            <a:schemeClr val="bg2"/>
          </a:solidFill>
          <a:ln/>
        </p:spPr>
      </p:sp>
      <p:sp>
        <p:nvSpPr>
          <p:cNvPr id="19" name="Phase 4 badge"/>
          <p:cNvSpPr/>
          <p:nvPr/>
        </p:nvSpPr>
        <p:spPr>
          <a:xfrm>
            <a:off x="5779008" y="1691640"/>
            <a:ext cx="603504" cy="603504"/>
          </a:xfrm>
          <a:prstGeom prst="ellipse">
            <a:avLst/>
          </a:prstGeom>
          <a:solidFill>
            <a:schemeClr val="accent1"/>
          </a:solidFill>
          <a:ln/>
        </p:spPr>
      </p:sp>
      <p:sp>
        <p:nvSpPr>
          <p:cNvPr id="20" name="Phase 4 number"/>
          <p:cNvSpPr txBox="1"/>
          <p:nvPr/>
        </p:nvSpPr>
        <p:spPr>
          <a:xfrm>
            <a:off x="5779008" y="1691640"/>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1" name="Phase 4 head"/>
          <p:cNvSpPr txBox="1"/>
          <p:nvPr/>
        </p:nvSpPr>
        <p:spPr>
          <a:xfrm>
            <a:off x="5440680" y="2423160"/>
            <a:ext cx="1280160" cy="685800"/>
          </a:xfrm>
          <a:prstGeom prst="rect">
            <a:avLst/>
          </a:prstGeom>
          <a:noFill/>
          <a:ln/>
        </p:spPr>
        <p:txBody>
          <a:bodyPr wrap="square" lIns="0" tIns="0" rIns="0" bIns="0" rtlCol="0" anchor="ctr"/>
          <a:lstStyle/>
          <a:p>
            <a:pPr algn="ctr" indent="0" marL="0">
              <a:buNone/>
            </a:pPr>
            <a:r>
              <a:rPr lang="en-US" sz="1500" b="1" dirty="0">
                <a:solidFill>
                  <a:schemeClr val="tx2"/>
                </a:solidFill>
              </a:rPr>
              <a:t>Network design</a:t>
            </a:r>
            <a:endParaRPr lang="en-US" sz="1500" dirty="0"/>
          </a:p>
        </p:txBody>
      </p:sp>
      <p:sp>
        <p:nvSpPr>
          <p:cNvPr id="22" name="Phase 4 text"/>
          <p:cNvSpPr txBox="1"/>
          <p:nvPr/>
        </p:nvSpPr>
        <p:spPr>
          <a:xfrm>
            <a:off x="5458968" y="3154680"/>
            <a:ext cx="1243584" cy="1051560"/>
          </a:xfrm>
          <a:prstGeom prst="rect">
            <a:avLst/>
          </a:prstGeom>
          <a:noFill/>
          <a:ln/>
        </p:spPr>
        <p:txBody>
          <a:bodyPr wrap="square" lIns="0" tIns="0" rIns="0" bIns="0" rtlCol="0" anchor="t"/>
          <a:lstStyle/>
          <a:p>
            <a:pPr algn="ctr" indent="0" marL="0">
              <a:buNone/>
            </a:pPr>
            <a:r>
              <a:rPr lang="en-US" sz="1400" dirty="0">
                <a:solidFill>
                  <a:schemeClr val="tx1"/>
                </a:solidFill>
              </a:rPr>
              <a:t>Dense layers, ReLU, Dropout, Softmax</a:t>
            </a:r>
            <a:endParaRPr lang="en-US" sz="1400" dirty="0"/>
          </a:p>
        </p:txBody>
      </p:sp>
      <p:sp>
        <p:nvSpPr>
          <p:cNvPr id="23" name="Phase card 5"/>
          <p:cNvSpPr/>
          <p:nvPr/>
        </p:nvSpPr>
        <p:spPr>
          <a:xfrm>
            <a:off x="6949440" y="1508760"/>
            <a:ext cx="1463040" cy="2834640"/>
          </a:xfrm>
          <a:prstGeom prst="roundRect">
            <a:avLst>
              <a:gd name="adj" fmla="val 7500"/>
            </a:avLst>
          </a:prstGeom>
          <a:solidFill>
            <a:schemeClr val="accent6"/>
          </a:solidFill>
          <a:ln/>
        </p:spPr>
      </p:sp>
      <p:sp>
        <p:nvSpPr>
          <p:cNvPr id="24" name="Phase 5 badge"/>
          <p:cNvSpPr/>
          <p:nvPr/>
        </p:nvSpPr>
        <p:spPr>
          <a:xfrm>
            <a:off x="7379208" y="1691640"/>
            <a:ext cx="603504" cy="603504"/>
          </a:xfrm>
          <a:prstGeom prst="ellipse">
            <a:avLst/>
          </a:prstGeom>
          <a:solidFill>
            <a:schemeClr val="accent1"/>
          </a:solidFill>
          <a:ln/>
        </p:spPr>
      </p:sp>
      <p:sp>
        <p:nvSpPr>
          <p:cNvPr id="25" name="Phase 5 number"/>
          <p:cNvSpPr txBox="1"/>
          <p:nvPr/>
        </p:nvSpPr>
        <p:spPr>
          <a:xfrm>
            <a:off x="7379208" y="1691640"/>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6" name="Phase 5 head"/>
          <p:cNvSpPr txBox="1"/>
          <p:nvPr/>
        </p:nvSpPr>
        <p:spPr>
          <a:xfrm>
            <a:off x="7040880" y="2423160"/>
            <a:ext cx="1280160" cy="685800"/>
          </a:xfrm>
          <a:prstGeom prst="rect">
            <a:avLst/>
          </a:prstGeom>
          <a:noFill/>
          <a:ln/>
        </p:spPr>
        <p:txBody>
          <a:bodyPr wrap="square" lIns="0" tIns="0" rIns="0" bIns="0" rtlCol="0" anchor="ctr"/>
          <a:lstStyle/>
          <a:p>
            <a:pPr algn="ctr" indent="0" marL="0">
              <a:buNone/>
            </a:pPr>
            <a:r>
              <a:rPr lang="en-US" sz="1500" b="1" dirty="0">
                <a:solidFill>
                  <a:schemeClr val="tx2"/>
                </a:solidFill>
              </a:rPr>
              <a:t>Training</a:t>
            </a:r>
            <a:endParaRPr lang="en-US" sz="1500" dirty="0"/>
          </a:p>
        </p:txBody>
      </p:sp>
      <p:sp>
        <p:nvSpPr>
          <p:cNvPr id="27" name="Phase 5 text"/>
          <p:cNvSpPr txBox="1"/>
          <p:nvPr/>
        </p:nvSpPr>
        <p:spPr>
          <a:xfrm>
            <a:off x="7059168" y="3154680"/>
            <a:ext cx="1243584" cy="1051560"/>
          </a:xfrm>
          <a:prstGeom prst="rect">
            <a:avLst/>
          </a:prstGeom>
          <a:noFill/>
          <a:ln/>
        </p:spPr>
        <p:txBody>
          <a:bodyPr wrap="square" lIns="0" tIns="0" rIns="0" bIns="0" rtlCol="0" anchor="t"/>
          <a:lstStyle/>
          <a:p>
            <a:pPr algn="ctr" indent="0" marL="0">
              <a:buNone/>
            </a:pPr>
            <a:r>
              <a:rPr lang="en-US" sz="1400" dirty="0">
                <a:solidFill>
                  <a:schemeClr val="tx1"/>
                </a:solidFill>
              </a:rPr>
              <a:t>Adam optimiser with early stopping</a:t>
            </a:r>
            <a:endParaRPr lang="en-US" sz="1400" dirty="0"/>
          </a:p>
        </p:txBody>
      </p:sp>
      <p:sp>
        <p:nvSpPr>
          <p:cNvPr id="28" name="Phase card 6"/>
          <p:cNvSpPr/>
          <p:nvPr/>
        </p:nvSpPr>
        <p:spPr>
          <a:xfrm>
            <a:off x="8549640" y="1508760"/>
            <a:ext cx="1463040" cy="2834640"/>
          </a:xfrm>
          <a:prstGeom prst="roundRect">
            <a:avLst>
              <a:gd name="adj" fmla="val 7500"/>
            </a:avLst>
          </a:prstGeom>
          <a:solidFill>
            <a:schemeClr val="bg2"/>
          </a:solidFill>
          <a:ln/>
        </p:spPr>
      </p:sp>
      <p:sp>
        <p:nvSpPr>
          <p:cNvPr id="29" name="Phase 6 badge"/>
          <p:cNvSpPr/>
          <p:nvPr/>
        </p:nvSpPr>
        <p:spPr>
          <a:xfrm>
            <a:off x="8979408" y="1691640"/>
            <a:ext cx="603504" cy="603504"/>
          </a:xfrm>
          <a:prstGeom prst="ellipse">
            <a:avLst/>
          </a:prstGeom>
          <a:solidFill>
            <a:schemeClr val="accent1"/>
          </a:solidFill>
          <a:ln/>
        </p:spPr>
      </p:sp>
      <p:sp>
        <p:nvSpPr>
          <p:cNvPr id="30" name="Phase 6 number"/>
          <p:cNvSpPr txBox="1"/>
          <p:nvPr/>
        </p:nvSpPr>
        <p:spPr>
          <a:xfrm>
            <a:off x="8979408" y="1691640"/>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31" name="Phase 6 head"/>
          <p:cNvSpPr txBox="1"/>
          <p:nvPr/>
        </p:nvSpPr>
        <p:spPr>
          <a:xfrm>
            <a:off x="8641080" y="2423160"/>
            <a:ext cx="1280160" cy="685800"/>
          </a:xfrm>
          <a:prstGeom prst="rect">
            <a:avLst/>
          </a:prstGeom>
          <a:noFill/>
          <a:ln/>
        </p:spPr>
        <p:txBody>
          <a:bodyPr wrap="square" lIns="0" tIns="0" rIns="0" bIns="0" rtlCol="0" anchor="ctr"/>
          <a:lstStyle/>
          <a:p>
            <a:pPr algn="ctr" indent="0" marL="0">
              <a:buNone/>
            </a:pPr>
            <a:r>
              <a:rPr lang="en-US" sz="1500" b="1" dirty="0">
                <a:solidFill>
                  <a:schemeClr val="tx2"/>
                </a:solidFill>
              </a:rPr>
              <a:t>Evaluation</a:t>
            </a:r>
            <a:endParaRPr lang="en-US" sz="1500" dirty="0"/>
          </a:p>
        </p:txBody>
      </p:sp>
      <p:sp>
        <p:nvSpPr>
          <p:cNvPr id="32" name="Phase 6 text"/>
          <p:cNvSpPr txBox="1"/>
          <p:nvPr/>
        </p:nvSpPr>
        <p:spPr>
          <a:xfrm>
            <a:off x="8659368" y="3154680"/>
            <a:ext cx="1243584" cy="1051560"/>
          </a:xfrm>
          <a:prstGeom prst="rect">
            <a:avLst/>
          </a:prstGeom>
          <a:noFill/>
          <a:ln/>
        </p:spPr>
        <p:txBody>
          <a:bodyPr wrap="square" lIns="0" tIns="0" rIns="0" bIns="0" rtlCol="0" anchor="t"/>
          <a:lstStyle/>
          <a:p>
            <a:pPr algn="ctr" indent="0" marL="0">
              <a:buNone/>
            </a:pPr>
            <a:r>
              <a:rPr lang="en-US" sz="1400" dirty="0">
                <a:solidFill>
                  <a:schemeClr val="tx1"/>
                </a:solidFill>
              </a:rPr>
              <a:t>Clinical metrics, 5-fold CV, baselines</a:t>
            </a:r>
            <a:endParaRPr lang="en-US" sz="1400" dirty="0"/>
          </a:p>
        </p:txBody>
      </p:sp>
      <p:sp>
        <p:nvSpPr>
          <p:cNvPr id="33" name="Phase card 7"/>
          <p:cNvSpPr/>
          <p:nvPr/>
        </p:nvSpPr>
        <p:spPr>
          <a:xfrm>
            <a:off x="10149840" y="1508760"/>
            <a:ext cx="1463040" cy="2834640"/>
          </a:xfrm>
          <a:prstGeom prst="roundRect">
            <a:avLst>
              <a:gd name="adj" fmla="val 7500"/>
            </a:avLst>
          </a:prstGeom>
          <a:solidFill>
            <a:schemeClr val="accent6"/>
          </a:solidFill>
          <a:ln/>
        </p:spPr>
      </p:sp>
      <p:sp>
        <p:nvSpPr>
          <p:cNvPr id="34" name="Phase 7 badge"/>
          <p:cNvSpPr/>
          <p:nvPr/>
        </p:nvSpPr>
        <p:spPr>
          <a:xfrm>
            <a:off x="10579608" y="1691640"/>
            <a:ext cx="603504" cy="603504"/>
          </a:xfrm>
          <a:prstGeom prst="ellipse">
            <a:avLst/>
          </a:prstGeom>
          <a:solidFill>
            <a:schemeClr val="accent1"/>
          </a:solidFill>
          <a:ln/>
        </p:spPr>
      </p:sp>
      <p:sp>
        <p:nvSpPr>
          <p:cNvPr id="35" name="Phase 7 number"/>
          <p:cNvSpPr txBox="1"/>
          <p:nvPr/>
        </p:nvSpPr>
        <p:spPr>
          <a:xfrm>
            <a:off x="10579608" y="1691640"/>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7</a:t>
            </a:r>
            <a:endParaRPr lang="en-US" sz="2000" dirty="0"/>
          </a:p>
        </p:txBody>
      </p:sp>
      <p:sp>
        <p:nvSpPr>
          <p:cNvPr id="36" name="Phase 7 head"/>
          <p:cNvSpPr txBox="1"/>
          <p:nvPr/>
        </p:nvSpPr>
        <p:spPr>
          <a:xfrm>
            <a:off x="10241280" y="2423160"/>
            <a:ext cx="1280160" cy="685800"/>
          </a:xfrm>
          <a:prstGeom prst="rect">
            <a:avLst/>
          </a:prstGeom>
          <a:noFill/>
          <a:ln/>
        </p:spPr>
        <p:txBody>
          <a:bodyPr wrap="square" lIns="0" tIns="0" rIns="0" bIns="0" rtlCol="0" anchor="ctr"/>
          <a:lstStyle/>
          <a:p>
            <a:pPr algn="ctr" indent="0" marL="0">
              <a:buNone/>
            </a:pPr>
            <a:r>
              <a:rPr lang="en-US" sz="1500" b="1" dirty="0">
                <a:solidFill>
                  <a:schemeClr val="tx2"/>
                </a:solidFill>
              </a:rPr>
              <a:t>Prediction system</a:t>
            </a:r>
            <a:endParaRPr lang="en-US" sz="1500" dirty="0"/>
          </a:p>
        </p:txBody>
      </p:sp>
      <p:sp>
        <p:nvSpPr>
          <p:cNvPr id="37" name="Phase 7 text"/>
          <p:cNvSpPr txBox="1"/>
          <p:nvPr/>
        </p:nvSpPr>
        <p:spPr>
          <a:xfrm>
            <a:off x="10259568" y="3154680"/>
            <a:ext cx="1243584" cy="1051560"/>
          </a:xfrm>
          <a:prstGeom prst="rect">
            <a:avLst/>
          </a:prstGeom>
          <a:noFill/>
          <a:ln/>
        </p:spPr>
        <p:txBody>
          <a:bodyPr wrap="square" lIns="0" tIns="0" rIns="0" bIns="0" rtlCol="0" anchor="t"/>
          <a:lstStyle/>
          <a:p>
            <a:pPr algn="ctr" indent="0" marL="0">
              <a:buNone/>
            </a:pPr>
            <a:r>
              <a:rPr lang="en-US" sz="1400" dirty="0">
                <a:solidFill>
                  <a:schemeClr val="tx1"/>
                </a:solidFill>
              </a:rPr>
              <a:t>Diagnose a new patient's sample</a:t>
            </a:r>
            <a:endParaRPr lang="en-US" sz="1400" dirty="0"/>
          </a:p>
        </p:txBody>
      </p:sp>
      <p:sp>
        <p:nvSpPr>
          <p:cNvPr id="38" name="Tools circle"/>
          <p:cNvSpPr/>
          <p:nvPr/>
        </p:nvSpPr>
        <p:spPr>
          <a:xfrm>
            <a:off x="548640" y="4754880"/>
            <a:ext cx="685800" cy="685800"/>
          </a:xfrm>
          <a:prstGeom prst="ellipse">
            <a:avLst/>
          </a:prstGeom>
          <a:solidFill>
            <a:schemeClr val="accent1"/>
          </a:solidFill>
          <a:ln/>
        </p:spPr>
      </p:sp>
      <p:pic>
        <p:nvPicPr>
          <p:cNvPr id="39" name="Tools icon" descr="preencoded.png">    </p:cNvPr>
          <p:cNvPicPr>
            <a:picLocks noChangeAspect="1"/>
          </p:cNvPicPr>
          <p:nvPr/>
        </p:nvPicPr>
        <p:blipFill>
          <a:blip r:embed="rId1"/>
          <a:stretch>
            <a:fillRect/>
          </a:stretch>
        </p:blipFill>
        <p:spPr>
          <a:xfrm>
            <a:off x="713232" y="4919472"/>
            <a:ext cx="356616" cy="356616"/>
          </a:xfrm>
          <a:prstGeom prst="rect">
            <a:avLst/>
          </a:prstGeom>
        </p:spPr>
      </p:pic>
      <p:sp>
        <p:nvSpPr>
          <p:cNvPr id="40" name="Tools text"/>
          <p:cNvSpPr txBox="1"/>
          <p:nvPr/>
        </p:nvSpPr>
        <p:spPr>
          <a:xfrm>
            <a:off x="1463040" y="4754880"/>
            <a:ext cx="10149840" cy="685800"/>
          </a:xfrm>
          <a:prstGeom prst="rect">
            <a:avLst/>
          </a:prstGeom>
          <a:noFill/>
          <a:ln/>
        </p:spPr>
        <p:txBody>
          <a:bodyPr wrap="square" lIns="0" tIns="0" rIns="0" bIns="0" rtlCol="0" anchor="ctr"/>
          <a:lstStyle/>
          <a:p>
            <a:pPr indent="0" marL="0">
              <a:buNone/>
            </a:pPr>
            <a:r>
              <a:rPr lang="en-US" sz="1600" b="1" dirty="0">
                <a:solidFill>
                  <a:schemeClr val="tx2"/>
                </a:solidFill>
              </a:rPr>
              <a:t>Tools: </a:t>
            </a:r>
            <a:pPr indent="0" marL="0">
              <a:buNone/>
            </a:pPr>
            <a:r>
              <a:rPr lang="en-US" sz="1600" dirty="0">
                <a:solidFill>
                  <a:schemeClr val="tx1"/>
                </a:solidFill>
              </a:rPr>
              <a:t>Python 3 · TensorFlow / Keras · scikit-learn · NumPy · Pandas · Matplotlib · Seaborn · Google Colab / Jupyter · Git &amp; GitHub</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Data preprocessing</a:t>
            </a:r>
            <a:endParaRPr lang="en-US" sz="3400" dirty="0"/>
          </a:p>
        </p:txBody>
      </p:sp>
      <p:sp>
        <p:nvSpPr>
          <p:cNvPr id="3" name="Training segment"/>
          <p:cNvSpPr/>
          <p:nvPr/>
        </p:nvSpPr>
        <p:spPr>
          <a:xfrm>
            <a:off x="548640" y="1463040"/>
            <a:ext cx="7041426" cy="822960"/>
          </a:xfrm>
          <a:prstGeom prst="rect">
            <a:avLst/>
          </a:prstGeom>
          <a:solidFill>
            <a:schemeClr val="accent2"/>
          </a:solidFill>
          <a:ln/>
        </p:spPr>
      </p:sp>
      <p:sp>
        <p:nvSpPr>
          <p:cNvPr id="4" name="Training label"/>
          <p:cNvSpPr txBox="1"/>
          <p:nvPr/>
        </p:nvSpPr>
        <p:spPr>
          <a:xfrm>
            <a:off x="685800" y="1463040"/>
            <a:ext cx="6858546" cy="822960"/>
          </a:xfrm>
          <a:prstGeom prst="rect">
            <a:avLst/>
          </a:prstGeom>
          <a:noFill/>
          <a:ln/>
        </p:spPr>
        <p:txBody>
          <a:bodyPr wrap="square" lIns="0" tIns="0" rIns="0" bIns="0" rtlCol="0" anchor="ctr"/>
          <a:lstStyle/>
          <a:p>
            <a:pPr indent="0" marL="0">
              <a:buNone/>
            </a:pPr>
            <a:r>
              <a:rPr lang="en-US" sz="1500" b="1" dirty="0">
                <a:solidFill>
                  <a:schemeClr val="bg1"/>
                </a:solidFill>
              </a:rPr>
              <a:t>Training: 364 patients (64%)</a:t>
            </a:r>
            <a:endParaRPr lang="en-US" sz="1500" dirty="0"/>
          </a:p>
        </p:txBody>
      </p:sp>
      <p:sp>
        <p:nvSpPr>
          <p:cNvPr id="5" name="Training note"/>
          <p:cNvSpPr txBox="1"/>
          <p:nvPr/>
        </p:nvSpPr>
        <p:spPr>
          <a:xfrm>
            <a:off x="548640" y="2377440"/>
            <a:ext cx="7041426" cy="365760"/>
          </a:xfrm>
          <a:prstGeom prst="rect">
            <a:avLst/>
          </a:prstGeom>
          <a:noFill/>
          <a:ln/>
        </p:spPr>
        <p:txBody>
          <a:bodyPr wrap="square" lIns="0" tIns="0" rIns="0" bIns="0" rtlCol="0" anchor="ctr"/>
          <a:lstStyle/>
          <a:p>
            <a:pPr indent="0" marL="0">
              <a:buNone/>
            </a:pPr>
            <a:r>
              <a:rPr lang="en-US" sz="1400" dirty="0">
                <a:solidFill>
                  <a:schemeClr val="accent5"/>
                </a:solidFill>
              </a:rPr>
              <a:t>Fits the network weights</a:t>
            </a:r>
            <a:endParaRPr lang="en-US" sz="1400" dirty="0"/>
          </a:p>
        </p:txBody>
      </p:sp>
      <p:sp>
        <p:nvSpPr>
          <p:cNvPr id="6" name="Validation segment"/>
          <p:cNvSpPr/>
          <p:nvPr/>
        </p:nvSpPr>
        <p:spPr>
          <a:xfrm>
            <a:off x="7626642" y="1463040"/>
            <a:ext cx="1732925" cy="822960"/>
          </a:xfrm>
          <a:prstGeom prst="rect">
            <a:avLst/>
          </a:prstGeom>
          <a:solidFill>
            <a:schemeClr val="accent1"/>
          </a:solidFill>
          <a:ln/>
        </p:spPr>
      </p:sp>
      <p:sp>
        <p:nvSpPr>
          <p:cNvPr id="7" name="Validation label"/>
          <p:cNvSpPr txBox="1"/>
          <p:nvPr/>
        </p:nvSpPr>
        <p:spPr>
          <a:xfrm>
            <a:off x="7763802" y="1463040"/>
            <a:ext cx="1550045" cy="822960"/>
          </a:xfrm>
          <a:prstGeom prst="rect">
            <a:avLst/>
          </a:prstGeom>
          <a:noFill/>
          <a:ln/>
        </p:spPr>
        <p:txBody>
          <a:bodyPr wrap="square" lIns="0" tIns="0" rIns="0" bIns="0" rtlCol="0" anchor="ctr"/>
          <a:lstStyle/>
          <a:p>
            <a:pPr indent="0" marL="0">
              <a:buNone/>
            </a:pPr>
            <a:r>
              <a:rPr lang="en-US" sz="1500" b="1" dirty="0">
                <a:solidFill>
                  <a:schemeClr val="bg1"/>
                </a:solidFill>
              </a:rPr>
              <a:t>Validation: 91 patients (16%)</a:t>
            </a:r>
            <a:endParaRPr lang="en-US" sz="1500" dirty="0"/>
          </a:p>
        </p:txBody>
      </p:sp>
      <p:sp>
        <p:nvSpPr>
          <p:cNvPr id="8" name="Validation note"/>
          <p:cNvSpPr txBox="1"/>
          <p:nvPr/>
        </p:nvSpPr>
        <p:spPr>
          <a:xfrm>
            <a:off x="7626642" y="2377440"/>
            <a:ext cx="1732925" cy="365760"/>
          </a:xfrm>
          <a:prstGeom prst="rect">
            <a:avLst/>
          </a:prstGeom>
          <a:noFill/>
          <a:ln/>
        </p:spPr>
        <p:txBody>
          <a:bodyPr wrap="square" lIns="0" tIns="0" rIns="0" bIns="0" rtlCol="0" anchor="ctr"/>
          <a:lstStyle/>
          <a:p>
            <a:pPr indent="0" marL="0">
              <a:buNone/>
            </a:pPr>
            <a:r>
              <a:rPr lang="en-US" sz="1400" dirty="0">
                <a:solidFill>
                  <a:schemeClr val="accent5"/>
                </a:solidFill>
              </a:rPr>
              <a:t>Watched by early stopping</a:t>
            </a:r>
            <a:endParaRPr lang="en-US" sz="1400" dirty="0"/>
          </a:p>
        </p:txBody>
      </p:sp>
      <p:sp>
        <p:nvSpPr>
          <p:cNvPr id="9" name="Test segment"/>
          <p:cNvSpPr/>
          <p:nvPr/>
        </p:nvSpPr>
        <p:spPr>
          <a:xfrm>
            <a:off x="9396143" y="1463040"/>
            <a:ext cx="2216737" cy="822960"/>
          </a:xfrm>
          <a:prstGeom prst="rect">
            <a:avLst/>
          </a:prstGeom>
          <a:solidFill>
            <a:schemeClr val="accent3"/>
          </a:solidFill>
          <a:ln/>
        </p:spPr>
      </p:sp>
      <p:sp>
        <p:nvSpPr>
          <p:cNvPr id="10" name="Test label"/>
          <p:cNvSpPr txBox="1"/>
          <p:nvPr/>
        </p:nvSpPr>
        <p:spPr>
          <a:xfrm>
            <a:off x="9533303" y="1463040"/>
            <a:ext cx="2033857" cy="822960"/>
          </a:xfrm>
          <a:prstGeom prst="rect">
            <a:avLst/>
          </a:prstGeom>
          <a:noFill/>
          <a:ln/>
        </p:spPr>
        <p:txBody>
          <a:bodyPr wrap="square" lIns="0" tIns="0" rIns="0" bIns="0" rtlCol="0" anchor="ctr"/>
          <a:lstStyle/>
          <a:p>
            <a:pPr indent="0" marL="0">
              <a:buNone/>
            </a:pPr>
            <a:r>
              <a:rPr lang="en-US" sz="1500" b="1" dirty="0">
                <a:solidFill>
                  <a:schemeClr val="bg1"/>
                </a:solidFill>
              </a:rPr>
              <a:t>Test: 114 patients (20%)</a:t>
            </a:r>
            <a:endParaRPr lang="en-US" sz="1500" dirty="0"/>
          </a:p>
        </p:txBody>
      </p:sp>
      <p:sp>
        <p:nvSpPr>
          <p:cNvPr id="11" name="Test note"/>
          <p:cNvSpPr txBox="1"/>
          <p:nvPr/>
        </p:nvSpPr>
        <p:spPr>
          <a:xfrm>
            <a:off x="9396143" y="2377440"/>
            <a:ext cx="2216737" cy="365760"/>
          </a:xfrm>
          <a:prstGeom prst="rect">
            <a:avLst/>
          </a:prstGeom>
          <a:noFill/>
          <a:ln/>
        </p:spPr>
        <p:txBody>
          <a:bodyPr wrap="square" lIns="0" tIns="0" rIns="0" bIns="0" rtlCol="0" anchor="ctr"/>
          <a:lstStyle/>
          <a:p>
            <a:pPr indent="0" marL="0">
              <a:buNone/>
            </a:pPr>
            <a:r>
              <a:rPr lang="en-US" sz="1400" dirty="0">
                <a:solidFill>
                  <a:schemeClr val="accent5"/>
                </a:solidFill>
              </a:rPr>
              <a:t>Used once, for final results</a:t>
            </a:r>
            <a:endParaRPr lang="en-US" sz="1400" dirty="0"/>
          </a:p>
        </p:txBody>
      </p:sp>
      <p:sp>
        <p:nvSpPr>
          <p:cNvPr id="12" name="Prep card 1"/>
          <p:cNvSpPr/>
          <p:nvPr/>
        </p:nvSpPr>
        <p:spPr>
          <a:xfrm>
            <a:off x="548640" y="3063240"/>
            <a:ext cx="3566160" cy="2926080"/>
          </a:xfrm>
          <a:prstGeom prst="roundRect">
            <a:avLst>
              <a:gd name="adj" fmla="val 3750"/>
            </a:avLst>
          </a:prstGeom>
          <a:solidFill>
            <a:schemeClr val="bg2"/>
          </a:solidFill>
          <a:ln/>
        </p:spPr>
      </p:sp>
      <p:sp>
        <p:nvSpPr>
          <p:cNvPr id="13" name="Prep 1 circle"/>
          <p:cNvSpPr/>
          <p:nvPr/>
        </p:nvSpPr>
        <p:spPr>
          <a:xfrm>
            <a:off x="777240" y="3246120"/>
            <a:ext cx="640080" cy="640080"/>
          </a:xfrm>
          <a:prstGeom prst="ellipse">
            <a:avLst/>
          </a:prstGeom>
          <a:solidFill>
            <a:schemeClr val="accent1"/>
          </a:solidFill>
          <a:ln/>
        </p:spPr>
      </p:sp>
      <p:pic>
        <p:nvPicPr>
          <p:cNvPr id="14" name="Prep 1 icon" descr="preencoded.png">    </p:cNvPr>
          <p:cNvPicPr>
            <a:picLocks noChangeAspect="1"/>
          </p:cNvPicPr>
          <p:nvPr/>
        </p:nvPicPr>
        <p:blipFill>
          <a:blip r:embed="rId1"/>
          <a:stretch>
            <a:fillRect/>
          </a:stretch>
        </p:blipFill>
        <p:spPr>
          <a:xfrm>
            <a:off x="930859" y="3399739"/>
            <a:ext cx="332842" cy="332842"/>
          </a:xfrm>
          <a:prstGeom prst="rect">
            <a:avLst/>
          </a:prstGeom>
        </p:spPr>
      </p:pic>
      <p:sp>
        <p:nvSpPr>
          <p:cNvPr id="15" name="Prep 1 head"/>
          <p:cNvSpPr txBox="1"/>
          <p:nvPr/>
        </p:nvSpPr>
        <p:spPr>
          <a:xfrm>
            <a:off x="1554480" y="3246120"/>
            <a:ext cx="2423160" cy="640080"/>
          </a:xfrm>
          <a:prstGeom prst="rect">
            <a:avLst/>
          </a:prstGeom>
          <a:noFill/>
          <a:ln/>
        </p:spPr>
        <p:txBody>
          <a:bodyPr wrap="square" lIns="0" tIns="0" rIns="0" bIns="0" rtlCol="0" anchor="ctr"/>
          <a:lstStyle/>
          <a:p>
            <a:pPr indent="0" marL="0">
              <a:buNone/>
            </a:pPr>
            <a:r>
              <a:rPr lang="en-US" sz="1700" b="1" dirty="0">
                <a:solidFill>
                  <a:schemeClr val="tx2"/>
                </a:solidFill>
              </a:rPr>
              <a:t>Stratified split</a:t>
            </a:r>
            <a:endParaRPr lang="en-US" sz="1700" dirty="0"/>
          </a:p>
        </p:txBody>
      </p:sp>
      <p:sp>
        <p:nvSpPr>
          <p:cNvPr id="16" name="Prep 1 text"/>
          <p:cNvSpPr txBox="1"/>
          <p:nvPr/>
        </p:nvSpPr>
        <p:spPr>
          <a:xfrm>
            <a:off x="777240" y="4023360"/>
            <a:ext cx="3154680" cy="1828800"/>
          </a:xfrm>
          <a:prstGeom prst="rect">
            <a:avLst/>
          </a:prstGeom>
          <a:noFill/>
          <a:ln/>
        </p:spPr>
        <p:txBody>
          <a:bodyPr wrap="square" lIns="0" tIns="0" rIns="0" bIns="0" rtlCol="0" anchor="t"/>
          <a:lstStyle/>
          <a:p>
            <a:pPr indent="0" marL="0">
              <a:buNone/>
            </a:pPr>
            <a:r>
              <a:rPr lang="en-US" sz="1600" dirty="0">
                <a:solidFill>
                  <a:schemeClr val="tx1"/>
                </a:solidFill>
              </a:rPr>
              <a:t>Each subset keeps the 37 / 63 malignant–benign ratio, so the test set is representative.</a:t>
            </a:r>
            <a:endParaRPr lang="en-US" sz="1600" dirty="0"/>
          </a:p>
        </p:txBody>
      </p:sp>
      <p:sp>
        <p:nvSpPr>
          <p:cNvPr id="17" name="Prep card 2"/>
          <p:cNvSpPr/>
          <p:nvPr/>
        </p:nvSpPr>
        <p:spPr>
          <a:xfrm>
            <a:off x="4297680" y="3063240"/>
            <a:ext cx="3566160" cy="2926080"/>
          </a:xfrm>
          <a:prstGeom prst="roundRect">
            <a:avLst>
              <a:gd name="adj" fmla="val 3750"/>
            </a:avLst>
          </a:prstGeom>
          <a:solidFill>
            <a:schemeClr val="bg2"/>
          </a:solidFill>
          <a:ln/>
        </p:spPr>
      </p:sp>
      <p:sp>
        <p:nvSpPr>
          <p:cNvPr id="18" name="Prep 2 circle"/>
          <p:cNvSpPr/>
          <p:nvPr/>
        </p:nvSpPr>
        <p:spPr>
          <a:xfrm>
            <a:off x="4526280" y="3246120"/>
            <a:ext cx="640080" cy="640080"/>
          </a:xfrm>
          <a:prstGeom prst="ellipse">
            <a:avLst/>
          </a:prstGeom>
          <a:solidFill>
            <a:schemeClr val="accent1"/>
          </a:solidFill>
          <a:ln/>
        </p:spPr>
      </p:sp>
      <p:pic>
        <p:nvPicPr>
          <p:cNvPr id="19" name="Prep 2 icon" descr="preencoded.png">    </p:cNvPr>
          <p:cNvPicPr>
            <a:picLocks noChangeAspect="1"/>
          </p:cNvPicPr>
          <p:nvPr/>
        </p:nvPicPr>
        <p:blipFill>
          <a:blip r:embed="rId2"/>
          <a:stretch>
            <a:fillRect/>
          </a:stretch>
        </p:blipFill>
        <p:spPr>
          <a:xfrm>
            <a:off x="4679899" y="3399739"/>
            <a:ext cx="332842" cy="332842"/>
          </a:xfrm>
          <a:prstGeom prst="rect">
            <a:avLst/>
          </a:prstGeom>
        </p:spPr>
      </p:pic>
      <p:sp>
        <p:nvSpPr>
          <p:cNvPr id="20" name="Prep 2 head"/>
          <p:cNvSpPr txBox="1"/>
          <p:nvPr/>
        </p:nvSpPr>
        <p:spPr>
          <a:xfrm>
            <a:off x="5303520" y="3246120"/>
            <a:ext cx="2423160" cy="640080"/>
          </a:xfrm>
          <a:prstGeom prst="rect">
            <a:avLst/>
          </a:prstGeom>
          <a:noFill/>
          <a:ln/>
        </p:spPr>
        <p:txBody>
          <a:bodyPr wrap="square" lIns="0" tIns="0" rIns="0" bIns="0" rtlCol="0" anchor="ctr"/>
          <a:lstStyle/>
          <a:p>
            <a:pPr indent="0" marL="0">
              <a:buNone/>
            </a:pPr>
            <a:r>
              <a:rPr lang="en-US" sz="1700" b="1" dirty="0">
                <a:solidFill>
                  <a:schemeClr val="tx2"/>
                </a:solidFill>
              </a:rPr>
              <a:t>Standardisation</a:t>
            </a:r>
            <a:endParaRPr lang="en-US" sz="1700" dirty="0"/>
          </a:p>
        </p:txBody>
      </p:sp>
      <p:sp>
        <p:nvSpPr>
          <p:cNvPr id="21" name="Prep 2 text"/>
          <p:cNvSpPr txBox="1"/>
          <p:nvPr/>
        </p:nvSpPr>
        <p:spPr>
          <a:xfrm>
            <a:off x="4526280" y="4023360"/>
            <a:ext cx="3154680" cy="1828800"/>
          </a:xfrm>
          <a:prstGeom prst="rect">
            <a:avLst/>
          </a:prstGeom>
          <a:noFill/>
          <a:ln/>
        </p:spPr>
        <p:txBody>
          <a:bodyPr wrap="square" lIns="0" tIns="0" rIns="0" bIns="0" rtlCol="0" anchor="t"/>
          <a:lstStyle/>
          <a:p>
            <a:pPr indent="0" marL="0">
              <a:buNone/>
            </a:pPr>
            <a:r>
              <a:rPr lang="en-US" sz="1600" dirty="0">
                <a:solidFill>
                  <a:schemeClr val="tx1"/>
                </a:solidFill>
              </a:rPr>
              <a:t>Features range from ≈ 0.05 (smoothness) to ≈ 2,500 (area). StandardScaler rescales each to mean 0, std 1 so no feature dominates training.</a:t>
            </a:r>
            <a:endParaRPr lang="en-US" sz="1600" dirty="0"/>
          </a:p>
        </p:txBody>
      </p:sp>
      <p:sp>
        <p:nvSpPr>
          <p:cNvPr id="22" name="Prep card 3"/>
          <p:cNvSpPr/>
          <p:nvPr/>
        </p:nvSpPr>
        <p:spPr>
          <a:xfrm>
            <a:off x="8046720" y="3063240"/>
            <a:ext cx="3566160" cy="2926080"/>
          </a:xfrm>
          <a:prstGeom prst="roundRect">
            <a:avLst>
              <a:gd name="adj" fmla="val 3750"/>
            </a:avLst>
          </a:prstGeom>
          <a:solidFill>
            <a:schemeClr val="bg2"/>
          </a:solidFill>
          <a:ln/>
        </p:spPr>
      </p:sp>
      <p:sp>
        <p:nvSpPr>
          <p:cNvPr id="23" name="Prep 3 circle"/>
          <p:cNvSpPr/>
          <p:nvPr/>
        </p:nvSpPr>
        <p:spPr>
          <a:xfrm>
            <a:off x="8275320" y="3246120"/>
            <a:ext cx="640080" cy="640080"/>
          </a:xfrm>
          <a:prstGeom prst="ellipse">
            <a:avLst/>
          </a:prstGeom>
          <a:solidFill>
            <a:schemeClr val="accent1"/>
          </a:solidFill>
          <a:ln/>
        </p:spPr>
      </p:sp>
      <p:pic>
        <p:nvPicPr>
          <p:cNvPr id="24" name="Prep 3 icon" descr="preencoded.png">    </p:cNvPr>
          <p:cNvPicPr>
            <a:picLocks noChangeAspect="1"/>
          </p:cNvPicPr>
          <p:nvPr/>
        </p:nvPicPr>
        <p:blipFill>
          <a:blip r:embed="rId3"/>
          <a:stretch>
            <a:fillRect/>
          </a:stretch>
        </p:blipFill>
        <p:spPr>
          <a:xfrm>
            <a:off x="8428939" y="3399739"/>
            <a:ext cx="332842" cy="332842"/>
          </a:xfrm>
          <a:prstGeom prst="rect">
            <a:avLst/>
          </a:prstGeom>
        </p:spPr>
      </p:pic>
      <p:sp>
        <p:nvSpPr>
          <p:cNvPr id="25" name="Prep 3 head"/>
          <p:cNvSpPr txBox="1"/>
          <p:nvPr/>
        </p:nvSpPr>
        <p:spPr>
          <a:xfrm>
            <a:off x="9052560" y="3246120"/>
            <a:ext cx="2423160" cy="640080"/>
          </a:xfrm>
          <a:prstGeom prst="rect">
            <a:avLst/>
          </a:prstGeom>
          <a:noFill/>
          <a:ln/>
        </p:spPr>
        <p:txBody>
          <a:bodyPr wrap="square" lIns="0" tIns="0" rIns="0" bIns="0" rtlCol="0" anchor="ctr"/>
          <a:lstStyle/>
          <a:p>
            <a:pPr indent="0" marL="0">
              <a:buNone/>
            </a:pPr>
            <a:r>
              <a:rPr lang="en-US" sz="1700" b="1" dirty="0">
                <a:solidFill>
                  <a:schemeClr val="tx2"/>
                </a:solidFill>
              </a:rPr>
              <a:t>No data leakage</a:t>
            </a:r>
            <a:endParaRPr lang="en-US" sz="1700" dirty="0"/>
          </a:p>
        </p:txBody>
      </p:sp>
      <p:sp>
        <p:nvSpPr>
          <p:cNvPr id="26" name="Prep 3 text"/>
          <p:cNvSpPr txBox="1"/>
          <p:nvPr/>
        </p:nvSpPr>
        <p:spPr>
          <a:xfrm>
            <a:off x="8275320" y="4023360"/>
            <a:ext cx="3154680" cy="1828800"/>
          </a:xfrm>
          <a:prstGeom prst="rect">
            <a:avLst/>
          </a:prstGeom>
          <a:noFill/>
          <a:ln/>
        </p:spPr>
        <p:txBody>
          <a:bodyPr wrap="square" lIns="0" tIns="0" rIns="0" bIns="0" rtlCol="0" anchor="t"/>
          <a:lstStyle/>
          <a:p>
            <a:pPr indent="0" marL="0">
              <a:buNone/>
            </a:pPr>
            <a:r>
              <a:rPr lang="en-US" sz="1600" dirty="0">
                <a:solidFill>
                  <a:schemeClr val="tx1"/>
                </a:solidFill>
              </a:rPr>
              <a:t>The scaler is fitted on training data only, then applied to validation and test data. Labels are already 0/1, ready for sparse categorical cross-entropy.</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Neural network architecture</a:t>
            </a:r>
            <a:endParaRPr lang="en-US" sz="3400" dirty="0"/>
          </a:p>
        </p:txBody>
      </p:sp>
      <p:sp>
        <p:nvSpPr>
          <p:cNvPr id="3" name="Layer 1 box"/>
          <p:cNvSpPr/>
          <p:nvPr/>
        </p:nvSpPr>
        <p:spPr>
          <a:xfrm>
            <a:off x="548640" y="1417320"/>
            <a:ext cx="1874520" cy="1600200"/>
          </a:xfrm>
          <a:prstGeom prst="roundRect">
            <a:avLst>
              <a:gd name="adj" fmla="val 6857"/>
            </a:avLst>
          </a:prstGeom>
          <a:solidFill>
            <a:schemeClr val="bg2"/>
          </a:solidFill>
          <a:ln/>
        </p:spPr>
      </p:sp>
      <p:sp>
        <p:nvSpPr>
          <p:cNvPr id="4" name="Layer 1 text"/>
          <p:cNvSpPr txBox="1"/>
          <p:nvPr/>
        </p:nvSpPr>
        <p:spPr>
          <a:xfrm>
            <a:off x="640080" y="1463040"/>
            <a:ext cx="1691640" cy="1508760"/>
          </a:xfrm>
          <a:prstGeom prst="rect">
            <a:avLst/>
          </a:prstGeom>
          <a:noFill/>
          <a:ln/>
        </p:spPr>
        <p:txBody>
          <a:bodyPr wrap="square" lIns="0" tIns="0" rIns="0" bIns="0" rtlCol="0" anchor="ctr"/>
          <a:lstStyle/>
          <a:p>
            <a:pPr algn="ctr" indent="0" marL="0">
              <a:buNone/>
            </a:pPr>
            <a:r>
              <a:rPr lang="en-US" sz="1700" b="1" dirty="0">
                <a:solidFill>
                  <a:schemeClr val="tx2"/>
                </a:solidFill>
              </a:rPr>
              <a:t>Input</a:t>
            </a:r>
            <a:endParaRPr lang="en-US" sz="1700" dirty="0"/>
          </a:p>
          <a:p>
            <a:pPr algn="ctr" indent="0" marL="0">
              <a:buNone/>
            </a:pPr>
            <a:r>
              <a:rPr lang="en-US" sz="1400" dirty="0">
                <a:solidFill>
                  <a:schemeClr val="tx1"/>
                </a:solidFill>
              </a:rPr>
              <a:t>30 features</a:t>
            </a:r>
            <a:endParaRPr lang="en-US" sz="1700" dirty="0"/>
          </a:p>
        </p:txBody>
      </p:sp>
      <p:sp>
        <p:nvSpPr>
          <p:cNvPr id="5" name="Arrow 1"/>
          <p:cNvSpPr/>
          <p:nvPr/>
        </p:nvSpPr>
        <p:spPr>
          <a:xfrm>
            <a:off x="2496312" y="2103120"/>
            <a:ext cx="274320" cy="256032"/>
          </a:xfrm>
          <a:prstGeom prst="rightArrow">
            <a:avLst/>
          </a:prstGeom>
          <a:solidFill>
            <a:schemeClr val="accent5"/>
          </a:solidFill>
          <a:ln/>
        </p:spPr>
      </p:sp>
      <p:sp>
        <p:nvSpPr>
          <p:cNvPr id="6" name="Layer 2 box"/>
          <p:cNvSpPr/>
          <p:nvPr/>
        </p:nvSpPr>
        <p:spPr>
          <a:xfrm>
            <a:off x="2843784" y="1417320"/>
            <a:ext cx="1874520" cy="1600200"/>
          </a:xfrm>
          <a:prstGeom prst="roundRect">
            <a:avLst>
              <a:gd name="adj" fmla="val 6857"/>
            </a:avLst>
          </a:prstGeom>
          <a:solidFill>
            <a:schemeClr val="accent6"/>
          </a:solidFill>
          <a:ln/>
        </p:spPr>
      </p:sp>
      <p:sp>
        <p:nvSpPr>
          <p:cNvPr id="7" name="Layer 2 text"/>
          <p:cNvSpPr txBox="1"/>
          <p:nvPr/>
        </p:nvSpPr>
        <p:spPr>
          <a:xfrm>
            <a:off x="2935224" y="1463040"/>
            <a:ext cx="1691640" cy="1508760"/>
          </a:xfrm>
          <a:prstGeom prst="rect">
            <a:avLst/>
          </a:prstGeom>
          <a:noFill/>
          <a:ln/>
        </p:spPr>
        <p:txBody>
          <a:bodyPr wrap="square" lIns="0" tIns="0" rIns="0" bIns="0" rtlCol="0" anchor="ctr"/>
          <a:lstStyle/>
          <a:p>
            <a:pPr algn="ctr" indent="0" marL="0">
              <a:buNone/>
            </a:pPr>
            <a:r>
              <a:rPr lang="en-US" sz="1700" b="1" dirty="0">
                <a:solidFill>
                  <a:schemeClr val="tx2"/>
                </a:solidFill>
              </a:rPr>
              <a:t>Hidden 1</a:t>
            </a:r>
            <a:endParaRPr lang="en-US" sz="1700" dirty="0"/>
          </a:p>
          <a:p>
            <a:pPr algn="ctr" indent="0" marL="0">
              <a:buNone/>
            </a:pPr>
            <a:r>
              <a:rPr lang="en-US" sz="1400" dirty="0">
                <a:solidFill>
                  <a:schemeClr val="tx1"/>
                </a:solidFill>
              </a:rPr>
              <a:t>Dense · 16</a:t>
            </a:r>
            <a:endParaRPr lang="en-US" sz="1700" dirty="0"/>
          </a:p>
          <a:p>
            <a:pPr algn="ctr" indent="0" marL="0">
              <a:buNone/>
            </a:pPr>
            <a:r>
              <a:rPr lang="en-US" sz="1400" dirty="0">
                <a:solidFill>
                  <a:schemeClr val="tx1"/>
                </a:solidFill>
              </a:rPr>
              <a:t>ReLU</a:t>
            </a:r>
            <a:endParaRPr lang="en-US" sz="1700" dirty="0"/>
          </a:p>
        </p:txBody>
      </p:sp>
      <p:sp>
        <p:nvSpPr>
          <p:cNvPr id="8" name="Arrow 2"/>
          <p:cNvSpPr/>
          <p:nvPr/>
        </p:nvSpPr>
        <p:spPr>
          <a:xfrm>
            <a:off x="4791456" y="2103120"/>
            <a:ext cx="274320" cy="256032"/>
          </a:xfrm>
          <a:prstGeom prst="rightArrow">
            <a:avLst/>
          </a:prstGeom>
          <a:solidFill>
            <a:schemeClr val="accent5"/>
          </a:solidFill>
          <a:ln/>
        </p:spPr>
      </p:sp>
      <p:sp>
        <p:nvSpPr>
          <p:cNvPr id="9" name="Layer 3 box"/>
          <p:cNvSpPr/>
          <p:nvPr/>
        </p:nvSpPr>
        <p:spPr>
          <a:xfrm>
            <a:off x="5138928" y="1417320"/>
            <a:ext cx="1874520" cy="1600200"/>
          </a:xfrm>
          <a:prstGeom prst="roundRect">
            <a:avLst>
              <a:gd name="adj" fmla="val 6857"/>
            </a:avLst>
          </a:prstGeom>
          <a:solidFill>
            <a:schemeClr val="bg2"/>
          </a:solidFill>
          <a:ln/>
        </p:spPr>
      </p:sp>
      <p:sp>
        <p:nvSpPr>
          <p:cNvPr id="10" name="Layer 3 text"/>
          <p:cNvSpPr txBox="1"/>
          <p:nvPr/>
        </p:nvSpPr>
        <p:spPr>
          <a:xfrm>
            <a:off x="5230368" y="1463040"/>
            <a:ext cx="1691640" cy="1508760"/>
          </a:xfrm>
          <a:prstGeom prst="rect">
            <a:avLst/>
          </a:prstGeom>
          <a:noFill/>
          <a:ln/>
        </p:spPr>
        <p:txBody>
          <a:bodyPr wrap="square" lIns="0" tIns="0" rIns="0" bIns="0" rtlCol="0" anchor="ctr"/>
          <a:lstStyle/>
          <a:p>
            <a:pPr algn="ctr" indent="0" marL="0">
              <a:buNone/>
            </a:pPr>
            <a:r>
              <a:rPr lang="en-US" sz="1700" b="1" dirty="0">
                <a:solidFill>
                  <a:schemeClr val="tx2"/>
                </a:solidFill>
              </a:rPr>
              <a:t>Dropout</a:t>
            </a:r>
            <a:endParaRPr lang="en-US" sz="1700" dirty="0"/>
          </a:p>
          <a:p>
            <a:pPr algn="ctr" indent="0" marL="0">
              <a:buNone/>
            </a:pPr>
            <a:r>
              <a:rPr lang="en-US" sz="1400" dirty="0">
                <a:solidFill>
                  <a:schemeClr val="tx1"/>
                </a:solidFill>
              </a:rPr>
              <a:t>20% (training only)</a:t>
            </a:r>
            <a:endParaRPr lang="en-US" sz="1700" dirty="0"/>
          </a:p>
        </p:txBody>
      </p:sp>
      <p:sp>
        <p:nvSpPr>
          <p:cNvPr id="11" name="Arrow 3"/>
          <p:cNvSpPr/>
          <p:nvPr/>
        </p:nvSpPr>
        <p:spPr>
          <a:xfrm>
            <a:off x="7086600" y="2103120"/>
            <a:ext cx="274320" cy="256032"/>
          </a:xfrm>
          <a:prstGeom prst="rightArrow">
            <a:avLst/>
          </a:prstGeom>
          <a:solidFill>
            <a:schemeClr val="accent5"/>
          </a:solidFill>
          <a:ln/>
        </p:spPr>
      </p:sp>
      <p:sp>
        <p:nvSpPr>
          <p:cNvPr id="12" name="Layer 4 box"/>
          <p:cNvSpPr/>
          <p:nvPr/>
        </p:nvSpPr>
        <p:spPr>
          <a:xfrm>
            <a:off x="7434072" y="1417320"/>
            <a:ext cx="1874520" cy="1600200"/>
          </a:xfrm>
          <a:prstGeom prst="roundRect">
            <a:avLst>
              <a:gd name="adj" fmla="val 6857"/>
            </a:avLst>
          </a:prstGeom>
          <a:solidFill>
            <a:schemeClr val="accent6"/>
          </a:solidFill>
          <a:ln/>
        </p:spPr>
      </p:sp>
      <p:sp>
        <p:nvSpPr>
          <p:cNvPr id="13" name="Layer 4 text"/>
          <p:cNvSpPr txBox="1"/>
          <p:nvPr/>
        </p:nvSpPr>
        <p:spPr>
          <a:xfrm>
            <a:off x="7525512" y="1463040"/>
            <a:ext cx="1691640" cy="1508760"/>
          </a:xfrm>
          <a:prstGeom prst="rect">
            <a:avLst/>
          </a:prstGeom>
          <a:noFill/>
          <a:ln/>
        </p:spPr>
        <p:txBody>
          <a:bodyPr wrap="square" lIns="0" tIns="0" rIns="0" bIns="0" rtlCol="0" anchor="ctr"/>
          <a:lstStyle/>
          <a:p>
            <a:pPr algn="ctr" indent="0" marL="0">
              <a:buNone/>
            </a:pPr>
            <a:r>
              <a:rPr lang="en-US" sz="1700" b="1" dirty="0">
                <a:solidFill>
                  <a:schemeClr val="tx2"/>
                </a:solidFill>
              </a:rPr>
              <a:t>Hidden 2</a:t>
            </a:r>
            <a:endParaRPr lang="en-US" sz="1700" dirty="0"/>
          </a:p>
          <a:p>
            <a:pPr algn="ctr" indent="0" marL="0">
              <a:buNone/>
            </a:pPr>
            <a:r>
              <a:rPr lang="en-US" sz="1400" dirty="0">
                <a:solidFill>
                  <a:schemeClr val="tx1"/>
                </a:solidFill>
              </a:rPr>
              <a:t>Dense · 8</a:t>
            </a:r>
            <a:endParaRPr lang="en-US" sz="1700" dirty="0"/>
          </a:p>
          <a:p>
            <a:pPr algn="ctr" indent="0" marL="0">
              <a:buNone/>
            </a:pPr>
            <a:r>
              <a:rPr lang="en-US" sz="1400" dirty="0">
                <a:solidFill>
                  <a:schemeClr val="tx1"/>
                </a:solidFill>
              </a:rPr>
              <a:t>ReLU</a:t>
            </a:r>
            <a:endParaRPr lang="en-US" sz="1700" dirty="0"/>
          </a:p>
        </p:txBody>
      </p:sp>
      <p:sp>
        <p:nvSpPr>
          <p:cNvPr id="14" name="Arrow 4"/>
          <p:cNvSpPr/>
          <p:nvPr/>
        </p:nvSpPr>
        <p:spPr>
          <a:xfrm>
            <a:off x="9381744" y="2103120"/>
            <a:ext cx="274320" cy="256032"/>
          </a:xfrm>
          <a:prstGeom prst="rightArrow">
            <a:avLst/>
          </a:prstGeom>
          <a:solidFill>
            <a:schemeClr val="accent5"/>
          </a:solidFill>
          <a:ln/>
        </p:spPr>
      </p:sp>
      <p:sp>
        <p:nvSpPr>
          <p:cNvPr id="15" name="Layer 5 box"/>
          <p:cNvSpPr/>
          <p:nvPr/>
        </p:nvSpPr>
        <p:spPr>
          <a:xfrm>
            <a:off x="9729216" y="1417320"/>
            <a:ext cx="1874520" cy="1600200"/>
          </a:xfrm>
          <a:prstGeom prst="roundRect">
            <a:avLst>
              <a:gd name="adj" fmla="val 6857"/>
            </a:avLst>
          </a:prstGeom>
          <a:solidFill>
            <a:schemeClr val="tx2"/>
          </a:solidFill>
          <a:ln/>
        </p:spPr>
      </p:sp>
      <p:sp>
        <p:nvSpPr>
          <p:cNvPr id="16" name="Layer 5 text"/>
          <p:cNvSpPr txBox="1"/>
          <p:nvPr/>
        </p:nvSpPr>
        <p:spPr>
          <a:xfrm>
            <a:off x="9820656" y="1463040"/>
            <a:ext cx="1691640" cy="1508760"/>
          </a:xfrm>
          <a:prstGeom prst="rect">
            <a:avLst/>
          </a:prstGeom>
          <a:noFill/>
          <a:ln/>
        </p:spPr>
        <p:txBody>
          <a:bodyPr wrap="square" lIns="0" tIns="0" rIns="0" bIns="0" rtlCol="0" anchor="ctr"/>
          <a:lstStyle/>
          <a:p>
            <a:pPr algn="ctr" indent="0" marL="0">
              <a:buNone/>
            </a:pPr>
            <a:r>
              <a:rPr lang="en-US" sz="1700" b="1" dirty="0">
                <a:solidFill>
                  <a:schemeClr val="bg1"/>
                </a:solidFill>
              </a:rPr>
              <a:t>Output</a:t>
            </a:r>
            <a:endParaRPr lang="en-US" sz="1700" dirty="0"/>
          </a:p>
          <a:p>
            <a:pPr algn="ctr" indent="0" marL="0">
              <a:buNone/>
            </a:pPr>
            <a:r>
              <a:rPr lang="en-US" sz="1400" dirty="0">
                <a:solidFill>
                  <a:schemeClr val="accent6"/>
                </a:solidFill>
              </a:rPr>
              <a:t>Dense · 2</a:t>
            </a:r>
            <a:endParaRPr lang="en-US" sz="1700" dirty="0"/>
          </a:p>
          <a:p>
            <a:pPr algn="ctr" indent="0" marL="0">
              <a:buNone/>
            </a:pPr>
            <a:r>
              <a:rPr lang="en-US" sz="1400" dirty="0">
                <a:solidFill>
                  <a:schemeClr val="accent6"/>
                </a:solidFill>
              </a:rPr>
              <a:t>Softmax</a:t>
            </a:r>
            <a:endParaRPr lang="en-US" sz="1700" dirty="0"/>
          </a:p>
        </p:txBody>
      </p:sp>
      <p:graphicFrame>
        <p:nvGraphicFramePr>
          <p:cNvPr id="9" name="Hyper-parameter table"/>
          <p:cNvGraphicFramePr>
            <a:graphicFrameLocks noGrp="1"/>
          </p:cNvGraphicFramePr>
          <p:nvPr>
            <p:extLst>
              <p:ext uri="{D42A27DB-BD31-4B8C-83A1-F6EECF244321}">
                <p14:modId xmlns:p14="http://schemas.microsoft.com/office/powerpoint/2010/main" val="1579011935"/>
              </p:ext>
            </p:extLst>
          </p:nvPr>
        </p:nvGraphicFramePr>
        <p:xfrm>
          <a:off x="548640" y="3429000"/>
          <a:ext cx="6035040" cy="914400"/>
        </p:xfrm>
        <a:graphic>
          <a:graphicData uri="http://schemas.openxmlformats.org/drawingml/2006/table">
            <a:tbl>
              <a:tblPr/>
              <a:tblGrid>
                <a:gridCol w="2377440"/>
                <a:gridCol w="3657600"/>
              </a:tblGrid>
              <a:tr h="438912">
                <a:tc>
                  <a:txBody>
                    <a:bodyPr/>
                    <a:lstStyle/>
                    <a:p>
                      <a:pPr indent="0" marL="0">
                        <a:buNone/>
                      </a:pPr>
                      <a:r>
                        <a:rPr lang="en-US" sz="1400" b="1" dirty="0">
                          <a:solidFill>
                            <a:srgbClr val="3A1F33"/>
                          </a:solidFill>
                          <a:latin typeface="Calibri" pitchFamily="34" charset="0"/>
                          <a:ea typeface="Calibri" pitchFamily="34" charset="-122"/>
                          <a:cs typeface="Calibri" pitchFamily="34" charset="-120"/>
                        </a:rPr>
                        <a:t>Optimiser</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solidFill>
                      <a:srgbClr val="F6F1F4"/>
                    </a:solidFill>
                  </a:tcPr>
                </a:tc>
                <a:tc>
                  <a:txBody>
                    <a:bodyPr/>
                    <a:lstStyle/>
                    <a:p>
                      <a:pPr indent="0" marL="0">
                        <a:buNone/>
                      </a:pPr>
                      <a:r>
                        <a:rPr lang="en-US" sz="1400" dirty="0">
                          <a:solidFill>
                            <a:srgbClr val="1E1A1D"/>
                          </a:solidFill>
                          <a:latin typeface="Calibri" pitchFamily="34" charset="0"/>
                          <a:ea typeface="Calibri" pitchFamily="34" charset="-122"/>
                          <a:cs typeface="Calibri" pitchFamily="34" charset="-120"/>
                        </a:rPr>
                        <a:t>Adam, learning rate 0.001</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r>
              <a:tr h="438912">
                <a:tc>
                  <a:txBody>
                    <a:bodyPr/>
                    <a:lstStyle/>
                    <a:p>
                      <a:pPr indent="0" marL="0">
                        <a:buNone/>
                      </a:pPr>
                      <a:r>
                        <a:rPr lang="en-US" sz="1400" b="1" dirty="0">
                          <a:solidFill>
                            <a:srgbClr val="3A1F33"/>
                          </a:solidFill>
                          <a:latin typeface="Calibri" pitchFamily="34" charset="0"/>
                          <a:ea typeface="Calibri" pitchFamily="34" charset="-122"/>
                          <a:cs typeface="Calibri" pitchFamily="34" charset="-120"/>
                        </a:rPr>
                        <a:t>Loss function</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solidFill>
                      <a:srgbClr val="F6F1F4"/>
                    </a:solidFill>
                  </a:tcPr>
                </a:tc>
                <a:tc>
                  <a:txBody>
                    <a:bodyPr/>
                    <a:lstStyle/>
                    <a:p>
                      <a:pPr indent="0" marL="0">
                        <a:buNone/>
                      </a:pPr>
                      <a:r>
                        <a:rPr lang="en-US" sz="1400" dirty="0">
                          <a:solidFill>
                            <a:srgbClr val="1E1A1D"/>
                          </a:solidFill>
                          <a:latin typeface="Calibri" pitchFamily="34" charset="0"/>
                          <a:ea typeface="Calibri" pitchFamily="34" charset="-122"/>
                          <a:cs typeface="Calibri" pitchFamily="34" charset="-120"/>
                        </a:rPr>
                        <a:t>Sparse categorical cross-entropy</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r>
              <a:tr h="438912">
                <a:tc>
                  <a:txBody>
                    <a:bodyPr/>
                    <a:lstStyle/>
                    <a:p>
                      <a:pPr indent="0" marL="0">
                        <a:buNone/>
                      </a:pPr>
                      <a:r>
                        <a:rPr lang="en-US" sz="1400" b="1" dirty="0">
                          <a:solidFill>
                            <a:srgbClr val="3A1F33"/>
                          </a:solidFill>
                          <a:latin typeface="Calibri" pitchFamily="34" charset="0"/>
                          <a:ea typeface="Calibri" pitchFamily="34" charset="-122"/>
                          <a:cs typeface="Calibri" pitchFamily="34" charset="-120"/>
                        </a:rPr>
                        <a:t>Batch size / max epochs</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solidFill>
                      <a:srgbClr val="F6F1F4"/>
                    </a:solidFill>
                  </a:tcPr>
                </a:tc>
                <a:tc>
                  <a:txBody>
                    <a:bodyPr/>
                    <a:lstStyle/>
                    <a:p>
                      <a:pPr indent="0" marL="0">
                        <a:buNone/>
                      </a:pPr>
                      <a:r>
                        <a:rPr lang="en-US" sz="1400" dirty="0">
                          <a:solidFill>
                            <a:srgbClr val="1E1A1D"/>
                          </a:solidFill>
                          <a:latin typeface="Calibri" pitchFamily="34" charset="0"/>
                          <a:ea typeface="Calibri" pitchFamily="34" charset="-122"/>
                          <a:cs typeface="Calibri" pitchFamily="34" charset="-120"/>
                        </a:rPr>
                        <a:t>32 / 100</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r>
              <a:tr h="438912">
                <a:tc>
                  <a:txBody>
                    <a:bodyPr/>
                    <a:lstStyle/>
                    <a:p>
                      <a:pPr indent="0" marL="0">
                        <a:buNone/>
                      </a:pPr>
                      <a:r>
                        <a:rPr lang="en-US" sz="1400" b="1" dirty="0">
                          <a:solidFill>
                            <a:srgbClr val="3A1F33"/>
                          </a:solidFill>
                          <a:latin typeface="Calibri" pitchFamily="34" charset="0"/>
                          <a:ea typeface="Calibri" pitchFamily="34" charset="-122"/>
                          <a:cs typeface="Calibri" pitchFamily="34" charset="-120"/>
                        </a:rPr>
                        <a:t>Early stopping</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solidFill>
                      <a:srgbClr val="F6F1F4"/>
                    </a:solidFill>
                  </a:tcPr>
                </a:tc>
                <a:tc>
                  <a:txBody>
                    <a:bodyPr/>
                    <a:lstStyle/>
                    <a:p>
                      <a:pPr indent="0" marL="0">
                        <a:buNone/>
                      </a:pPr>
                      <a:r>
                        <a:rPr lang="en-US" sz="1400" dirty="0">
                          <a:solidFill>
                            <a:srgbClr val="1E1A1D"/>
                          </a:solidFill>
                          <a:latin typeface="Calibri" pitchFamily="34" charset="0"/>
                          <a:ea typeface="Calibri" pitchFamily="34" charset="-122"/>
                          <a:cs typeface="Calibri" pitchFamily="34" charset="-120"/>
                        </a:rPr>
                        <a:t>val_loss, patience 10, restore best weights</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r>
              <a:tr h="438912">
                <a:tc>
                  <a:txBody>
                    <a:bodyPr/>
                    <a:lstStyle/>
                    <a:p>
                      <a:pPr indent="0" marL="0">
                        <a:buNone/>
                      </a:pPr>
                      <a:r>
                        <a:rPr lang="en-US" sz="1400" b="1" dirty="0">
                          <a:solidFill>
                            <a:srgbClr val="3A1F33"/>
                          </a:solidFill>
                          <a:latin typeface="Calibri" pitchFamily="34" charset="0"/>
                          <a:ea typeface="Calibri" pitchFamily="34" charset="-122"/>
                          <a:cs typeface="Calibri" pitchFamily="34" charset="-120"/>
                        </a:rPr>
                        <a:t>Trainable parameters</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solidFill>
                      <a:srgbClr val="F6F1F4"/>
                    </a:solidFill>
                  </a:tcPr>
                </a:tc>
                <a:tc>
                  <a:txBody>
                    <a:bodyPr/>
                    <a:lstStyle/>
                    <a:p>
                      <a:pPr indent="0" marL="0">
                        <a:buNone/>
                      </a:pPr>
                      <a:r>
                        <a:rPr lang="en-US" sz="1400" dirty="0">
                          <a:solidFill>
                            <a:srgbClr val="1E1A1D"/>
                          </a:solidFill>
                          <a:latin typeface="Calibri" pitchFamily="34" charset="0"/>
                          <a:ea typeface="Calibri" pitchFamily="34" charset="-122"/>
                          <a:cs typeface="Calibri" pitchFamily="34" charset="-120"/>
                        </a:rPr>
                        <a:t>650</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r>
            </a:tbl>
          </a:graphicData>
        </a:graphic>
      </p:graphicFrame>
      <p:sp>
        <p:nvSpPr>
          <p:cNvPr id="18" name="Why card"/>
          <p:cNvSpPr/>
          <p:nvPr/>
        </p:nvSpPr>
        <p:spPr>
          <a:xfrm>
            <a:off x="6949440" y="3429000"/>
            <a:ext cx="4663440" cy="2194560"/>
          </a:xfrm>
          <a:prstGeom prst="roundRect">
            <a:avLst>
              <a:gd name="adj" fmla="val 5000"/>
            </a:avLst>
          </a:prstGeom>
          <a:solidFill>
            <a:schemeClr val="accent6"/>
          </a:solidFill>
          <a:ln/>
        </p:spPr>
      </p:sp>
      <p:sp>
        <p:nvSpPr>
          <p:cNvPr id="19" name="Why text"/>
          <p:cNvSpPr txBox="1"/>
          <p:nvPr/>
        </p:nvSpPr>
        <p:spPr>
          <a:xfrm>
            <a:off x="7178040" y="3566160"/>
            <a:ext cx="4297680" cy="196596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Design choices</a:t>
            </a:r>
            <a:endParaRPr lang="en-US" sz="1400" dirty="0"/>
          </a:p>
          <a:p>
            <a:pPr marL="342900" indent="-342900">
              <a:spcAft>
                <a:spcPts val="400"/>
              </a:spcAft>
              <a:buSzPct val="100000"/>
              <a:buChar char="•"/>
            </a:pPr>
            <a:r>
              <a:rPr lang="en-US" sz="1400" dirty="0">
                <a:solidFill>
                  <a:schemeClr val="tx1"/>
                </a:solidFill>
              </a:rPr>
              <a:t>ReLU learns non-linear patterns</a:t>
            </a:r>
            <a:endParaRPr lang="en-US" sz="1400" dirty="0"/>
          </a:p>
          <a:p>
            <a:pPr marL="342900" indent="-342900">
              <a:spcAft>
                <a:spcPts val="400"/>
              </a:spcAft>
              <a:buSzPct val="100000"/>
              <a:buChar char="•"/>
            </a:pPr>
            <a:r>
              <a:rPr lang="en-US" sz="1400" dirty="0">
                <a:solidFill>
                  <a:schemeClr val="tx1"/>
                </a:solidFill>
              </a:rPr>
              <a:t>Dropout reduces over-fitting</a:t>
            </a:r>
            <a:endParaRPr lang="en-US" sz="1400" dirty="0"/>
          </a:p>
          <a:p>
            <a:pPr marL="342900" indent="-342900">
              <a:spcAft>
                <a:spcPts val="400"/>
              </a:spcAft>
              <a:buSzPct val="100000"/>
              <a:buChar char="•"/>
            </a:pPr>
            <a:r>
              <a:rPr lang="en-US" sz="1400" dirty="0">
                <a:solidFill>
                  <a:schemeClr val="tx1"/>
                </a:solidFill>
              </a:rPr>
              <a:t>Softmax gives P(malignant) + P(benign) = 1 (the starter code's sigmoid was replaced)</a:t>
            </a:r>
            <a:endParaRPr lang="en-US" sz="1400" dirty="0"/>
          </a:p>
          <a:p>
            <a:pPr marL="342900" indent="-342900">
              <a:spcAft>
                <a:spcPts val="400"/>
              </a:spcAft>
              <a:buSzPct val="100000"/>
              <a:buChar char="•"/>
            </a:pPr>
            <a:r>
              <a:rPr lang="en-US" sz="1400" dirty="0">
                <a:solidFill>
                  <a:schemeClr val="tx1"/>
                </a:solidFill>
              </a:rPr>
              <a:t>Small size chosen: bigger networks did not do better</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Implementation: training the model</a:t>
            </a:r>
            <a:endParaRPr lang="en-US" sz="3400" dirty="0"/>
          </a:p>
        </p:txBody>
      </p:sp>
      <p:pic>
        <p:nvPicPr>
          <p:cNvPr id="3" name="Training history" descr="/home/claude/project/breast-cancer-classification-nn/results/figures/04_training_history.png">    </p:cNvPr>
          <p:cNvPicPr>
            <a:picLocks noChangeAspect="1"/>
          </p:cNvPicPr>
          <p:nvPr/>
        </p:nvPicPr>
        <p:blipFill>
          <a:blip r:embed="rId1"/>
          <a:stretch>
            <a:fillRect/>
          </a:stretch>
        </p:blipFill>
        <p:spPr>
          <a:xfrm>
            <a:off x="457200" y="1391410"/>
            <a:ext cx="11247120" cy="3663701"/>
          </a:xfrm>
          <a:prstGeom prst="rect">
            <a:avLst/>
          </a:prstGeom>
        </p:spPr>
      </p:pic>
      <p:sp>
        <p:nvSpPr>
          <p:cNvPr id="4" name="Training fact 1"/>
          <p:cNvSpPr txBox="1"/>
          <p:nvPr/>
        </p:nvSpPr>
        <p:spPr>
          <a:xfrm>
            <a:off x="548640" y="5257800"/>
            <a:ext cx="3566160" cy="9144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51 epochs</a:t>
            </a:r>
            <a:endParaRPr lang="en-US" sz="2400" dirty="0"/>
          </a:p>
          <a:p>
            <a:pPr indent="0" marL="0">
              <a:buNone/>
            </a:pPr>
            <a:r>
              <a:rPr lang="en-US" sz="1400" dirty="0">
                <a:solidFill>
                  <a:schemeClr val="tx1"/>
                </a:solidFill>
              </a:rPr>
              <a:t>training stopped automatically by early stopping</a:t>
            </a:r>
            <a:endParaRPr lang="en-US" sz="2400" dirty="0"/>
          </a:p>
        </p:txBody>
      </p:sp>
      <p:sp>
        <p:nvSpPr>
          <p:cNvPr id="5" name="Training fact 2"/>
          <p:cNvSpPr txBox="1"/>
          <p:nvPr/>
        </p:nvSpPr>
        <p:spPr>
          <a:xfrm>
            <a:off x="4297680" y="5257800"/>
            <a:ext cx="3566160" cy="9144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Epoch 41</a:t>
            </a:r>
            <a:endParaRPr lang="en-US" sz="2400" dirty="0"/>
          </a:p>
          <a:p>
            <a:pPr indent="0" marL="0">
              <a:buNone/>
            </a:pPr>
            <a:r>
              <a:rPr lang="en-US" sz="1400" dirty="0">
                <a:solidFill>
                  <a:schemeClr val="tx1"/>
                </a:solidFill>
              </a:rPr>
              <a:t>best validation loss; these weights were restored</a:t>
            </a:r>
            <a:endParaRPr lang="en-US" sz="2400" dirty="0"/>
          </a:p>
        </p:txBody>
      </p:sp>
      <p:sp>
        <p:nvSpPr>
          <p:cNvPr id="6" name="Training fact 3"/>
          <p:cNvSpPr txBox="1"/>
          <p:nvPr/>
        </p:nvSpPr>
        <p:spPr>
          <a:xfrm>
            <a:off x="8046720" y="5257800"/>
            <a:ext cx="3566160" cy="9144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98.6% / 96.7%</a:t>
            </a:r>
            <a:endParaRPr lang="en-US" sz="2400" dirty="0"/>
          </a:p>
          <a:p>
            <a:pPr indent="0" marL="0">
              <a:buNone/>
            </a:pPr>
            <a:r>
              <a:rPr lang="en-US" sz="1400" dirty="0">
                <a:solidFill>
                  <a:schemeClr val="tx1"/>
                </a:solidFill>
              </a:rPr>
              <a:t>training / validation accuracy at the best epoch</a:t>
            </a:r>
            <a:endParaRPr lang="en-US" sz="2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Results on 114 unseen test patients</a:t>
            </a:r>
            <a:endParaRPr lang="en-US" sz="3400" dirty="0"/>
          </a:p>
        </p:txBody>
      </p:sp>
      <p:sp>
        <p:nvSpPr>
          <p:cNvPr id="3" name="Result card 1"/>
          <p:cNvSpPr/>
          <p:nvPr/>
        </p:nvSpPr>
        <p:spPr>
          <a:xfrm>
            <a:off x="548640" y="1325880"/>
            <a:ext cx="2651760" cy="1691640"/>
          </a:xfrm>
          <a:prstGeom prst="roundRect">
            <a:avLst>
              <a:gd name="adj" fmla="val 6486"/>
            </a:avLst>
          </a:prstGeom>
          <a:solidFill>
            <a:schemeClr val="tx2"/>
          </a:solidFill>
          <a:ln/>
        </p:spPr>
      </p:sp>
      <p:sp>
        <p:nvSpPr>
          <p:cNvPr id="4" name="Result 1 value"/>
          <p:cNvSpPr txBox="1"/>
          <p:nvPr/>
        </p:nvSpPr>
        <p:spPr>
          <a:xfrm>
            <a:off x="731520" y="1417320"/>
            <a:ext cx="2286000" cy="77724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96.5%</a:t>
            </a:r>
            <a:endParaRPr lang="en-US" sz="3600" dirty="0"/>
          </a:p>
        </p:txBody>
      </p:sp>
      <p:sp>
        <p:nvSpPr>
          <p:cNvPr id="5" name="Result 1 label"/>
          <p:cNvSpPr txBox="1"/>
          <p:nvPr/>
        </p:nvSpPr>
        <p:spPr>
          <a:xfrm>
            <a:off x="731520" y="2194560"/>
            <a:ext cx="2331720" cy="731520"/>
          </a:xfrm>
          <a:prstGeom prst="rect">
            <a:avLst/>
          </a:prstGeom>
          <a:noFill/>
          <a:ln/>
        </p:spPr>
        <p:txBody>
          <a:bodyPr wrap="square" lIns="0" tIns="0" rIns="0" bIns="0" rtlCol="0" anchor="t"/>
          <a:lstStyle/>
          <a:p>
            <a:pPr indent="0" marL="0">
              <a:buNone/>
            </a:pPr>
            <a:r>
              <a:rPr lang="en-US" sz="1500" b="1" dirty="0">
                <a:solidFill>
                  <a:schemeClr val="bg1"/>
                </a:solidFill>
              </a:rPr>
              <a:t>Accuracy</a:t>
            </a:r>
            <a:endParaRPr lang="en-US" sz="1500" dirty="0"/>
          </a:p>
          <a:p>
            <a:pPr indent="0" marL="0">
              <a:buNone/>
            </a:pPr>
            <a:r>
              <a:rPr lang="en-US" sz="1400" dirty="0">
                <a:solidFill>
                  <a:schemeClr val="accent6"/>
                </a:solidFill>
              </a:rPr>
              <a:t>target &gt; 90%</a:t>
            </a:r>
            <a:endParaRPr lang="en-US" sz="1500" dirty="0"/>
          </a:p>
        </p:txBody>
      </p:sp>
      <p:sp>
        <p:nvSpPr>
          <p:cNvPr id="6" name="Result card 2"/>
          <p:cNvSpPr/>
          <p:nvPr/>
        </p:nvSpPr>
        <p:spPr>
          <a:xfrm>
            <a:off x="3383280" y="1325880"/>
            <a:ext cx="2651760" cy="1691640"/>
          </a:xfrm>
          <a:prstGeom prst="roundRect">
            <a:avLst>
              <a:gd name="adj" fmla="val 6486"/>
            </a:avLst>
          </a:prstGeom>
          <a:solidFill>
            <a:schemeClr val="bg2"/>
          </a:solidFill>
          <a:ln/>
        </p:spPr>
      </p:sp>
      <p:sp>
        <p:nvSpPr>
          <p:cNvPr id="7" name="Result 2 value"/>
          <p:cNvSpPr txBox="1"/>
          <p:nvPr/>
        </p:nvSpPr>
        <p:spPr>
          <a:xfrm>
            <a:off x="3566160" y="1417320"/>
            <a:ext cx="2286000" cy="77724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97.6%</a:t>
            </a:r>
            <a:endParaRPr lang="en-US" sz="3600" dirty="0"/>
          </a:p>
        </p:txBody>
      </p:sp>
      <p:sp>
        <p:nvSpPr>
          <p:cNvPr id="8" name="Result 2 label"/>
          <p:cNvSpPr txBox="1"/>
          <p:nvPr/>
        </p:nvSpPr>
        <p:spPr>
          <a:xfrm>
            <a:off x="3566160" y="2194560"/>
            <a:ext cx="2331720" cy="731520"/>
          </a:xfrm>
          <a:prstGeom prst="rect">
            <a:avLst/>
          </a:prstGeom>
          <a:noFill/>
          <a:ln/>
        </p:spPr>
        <p:txBody>
          <a:bodyPr wrap="square" lIns="0" tIns="0" rIns="0" bIns="0" rtlCol="0" anchor="t"/>
          <a:lstStyle/>
          <a:p>
            <a:pPr indent="0" marL="0">
              <a:buNone/>
            </a:pPr>
            <a:r>
              <a:rPr lang="en-US" sz="1500" b="1" dirty="0">
                <a:solidFill>
                  <a:schemeClr val="tx2"/>
                </a:solidFill>
              </a:rPr>
              <a:t>Sensitivity</a:t>
            </a:r>
            <a:endParaRPr lang="en-US" sz="1500" dirty="0"/>
          </a:p>
          <a:p>
            <a:pPr indent="0" marL="0">
              <a:buNone/>
            </a:pPr>
            <a:r>
              <a:rPr lang="en-US" sz="1400" dirty="0">
                <a:solidFill>
                  <a:schemeClr val="accent5"/>
                </a:solidFill>
              </a:rPr>
              <a:t>41 of 42 cancers detected</a:t>
            </a:r>
            <a:endParaRPr lang="en-US" sz="1500" dirty="0"/>
          </a:p>
        </p:txBody>
      </p:sp>
      <p:sp>
        <p:nvSpPr>
          <p:cNvPr id="9" name="Result card 3"/>
          <p:cNvSpPr/>
          <p:nvPr/>
        </p:nvSpPr>
        <p:spPr>
          <a:xfrm>
            <a:off x="6217920" y="1325880"/>
            <a:ext cx="2651760" cy="1691640"/>
          </a:xfrm>
          <a:prstGeom prst="roundRect">
            <a:avLst>
              <a:gd name="adj" fmla="val 6486"/>
            </a:avLst>
          </a:prstGeom>
          <a:solidFill>
            <a:schemeClr val="bg2"/>
          </a:solidFill>
          <a:ln/>
        </p:spPr>
      </p:sp>
      <p:sp>
        <p:nvSpPr>
          <p:cNvPr id="10" name="Result 3 value"/>
          <p:cNvSpPr txBox="1"/>
          <p:nvPr/>
        </p:nvSpPr>
        <p:spPr>
          <a:xfrm>
            <a:off x="6400800" y="1417320"/>
            <a:ext cx="2286000" cy="77724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0.994</a:t>
            </a:r>
            <a:endParaRPr lang="en-US" sz="3600" dirty="0"/>
          </a:p>
        </p:txBody>
      </p:sp>
      <p:sp>
        <p:nvSpPr>
          <p:cNvPr id="11" name="Result 3 label"/>
          <p:cNvSpPr txBox="1"/>
          <p:nvPr/>
        </p:nvSpPr>
        <p:spPr>
          <a:xfrm>
            <a:off x="6400800" y="2194560"/>
            <a:ext cx="2331720" cy="731520"/>
          </a:xfrm>
          <a:prstGeom prst="rect">
            <a:avLst/>
          </a:prstGeom>
          <a:noFill/>
          <a:ln/>
        </p:spPr>
        <p:txBody>
          <a:bodyPr wrap="square" lIns="0" tIns="0" rIns="0" bIns="0" rtlCol="0" anchor="t"/>
          <a:lstStyle/>
          <a:p>
            <a:pPr indent="0" marL="0">
              <a:buNone/>
            </a:pPr>
            <a:r>
              <a:rPr lang="en-US" sz="1500" b="1" dirty="0">
                <a:solidFill>
                  <a:schemeClr val="tx2"/>
                </a:solidFill>
              </a:rPr>
              <a:t>ROC-AUC</a:t>
            </a:r>
            <a:endParaRPr lang="en-US" sz="1500" dirty="0"/>
          </a:p>
          <a:p>
            <a:pPr indent="0" marL="0">
              <a:buNone/>
            </a:pPr>
            <a:r>
              <a:rPr lang="en-US" sz="1400" dirty="0">
                <a:solidFill>
                  <a:schemeClr val="accent5"/>
                </a:solidFill>
              </a:rPr>
              <a:t>1.0 = perfect ranking</a:t>
            </a:r>
            <a:endParaRPr lang="en-US" sz="1500" dirty="0"/>
          </a:p>
        </p:txBody>
      </p:sp>
      <p:sp>
        <p:nvSpPr>
          <p:cNvPr id="12" name="Result card 4"/>
          <p:cNvSpPr/>
          <p:nvPr/>
        </p:nvSpPr>
        <p:spPr>
          <a:xfrm>
            <a:off x="9052560" y="1325880"/>
            <a:ext cx="2651760" cy="1691640"/>
          </a:xfrm>
          <a:prstGeom prst="roundRect">
            <a:avLst>
              <a:gd name="adj" fmla="val 6486"/>
            </a:avLst>
          </a:prstGeom>
          <a:solidFill>
            <a:schemeClr val="bg2"/>
          </a:solidFill>
          <a:ln/>
        </p:spPr>
      </p:sp>
      <p:sp>
        <p:nvSpPr>
          <p:cNvPr id="13" name="Result 4 value"/>
          <p:cNvSpPr txBox="1"/>
          <p:nvPr/>
        </p:nvSpPr>
        <p:spPr>
          <a:xfrm>
            <a:off x="9235440" y="1417320"/>
            <a:ext cx="2286000" cy="77724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97.7%</a:t>
            </a:r>
            <a:endParaRPr lang="en-US" sz="3600" dirty="0"/>
          </a:p>
        </p:txBody>
      </p:sp>
      <p:sp>
        <p:nvSpPr>
          <p:cNvPr id="14" name="Result 4 label"/>
          <p:cNvSpPr txBox="1"/>
          <p:nvPr/>
        </p:nvSpPr>
        <p:spPr>
          <a:xfrm>
            <a:off x="9235440" y="2194560"/>
            <a:ext cx="2331720" cy="731520"/>
          </a:xfrm>
          <a:prstGeom prst="rect">
            <a:avLst/>
          </a:prstGeom>
          <a:noFill/>
          <a:ln/>
        </p:spPr>
        <p:txBody>
          <a:bodyPr wrap="square" lIns="0" tIns="0" rIns="0" bIns="0" rtlCol="0" anchor="t"/>
          <a:lstStyle/>
          <a:p>
            <a:pPr indent="0" marL="0">
              <a:buNone/>
            </a:pPr>
            <a:r>
              <a:rPr lang="en-US" sz="1500" b="1" dirty="0">
                <a:solidFill>
                  <a:schemeClr val="tx2"/>
                </a:solidFill>
              </a:rPr>
              <a:t>5-fold CV accuracy</a:t>
            </a:r>
            <a:endParaRPr lang="en-US" sz="1500" dirty="0"/>
          </a:p>
          <a:p>
            <a:pPr indent="0" marL="0">
              <a:buNone/>
            </a:pPr>
            <a:r>
              <a:rPr lang="en-US" sz="1400" dirty="0">
                <a:solidFill>
                  <a:schemeClr val="accent5"/>
                </a:solidFill>
              </a:rPr>
              <a:t>± 0.9% across folds</a:t>
            </a:r>
            <a:endParaRPr lang="en-US" sz="1500" dirty="0"/>
          </a:p>
        </p:txBody>
      </p:sp>
      <p:pic>
        <p:nvPicPr>
          <p:cNvPr id="15" name="Confusion matrix" descr="/home/claude/project/breast-cancer-classification-nn/results/figures/05_confusion_matrix.png">    </p:cNvPr>
          <p:cNvPicPr>
            <a:picLocks noChangeAspect="1"/>
          </p:cNvPicPr>
          <p:nvPr/>
        </p:nvPicPr>
        <p:blipFill>
          <a:blip r:embed="rId1"/>
          <a:stretch>
            <a:fillRect/>
          </a:stretch>
        </p:blipFill>
        <p:spPr>
          <a:xfrm>
            <a:off x="909738" y="3246120"/>
            <a:ext cx="3484044" cy="3017520"/>
          </a:xfrm>
          <a:prstGeom prst="rect">
            <a:avLst/>
          </a:prstGeom>
        </p:spPr>
      </p:pic>
      <p:sp>
        <p:nvSpPr>
          <p:cNvPr id="16" name="Confusion notes"/>
          <p:cNvSpPr txBox="1"/>
          <p:nvPr/>
        </p:nvSpPr>
        <p:spPr>
          <a:xfrm>
            <a:off x="5120640" y="3337560"/>
            <a:ext cx="6492240" cy="2834640"/>
          </a:xfrm>
          <a:prstGeom prst="rect">
            <a:avLst/>
          </a:prstGeom>
          <a:noFill/>
          <a:ln/>
        </p:spPr>
        <p:txBody>
          <a:bodyPr wrap="square" lIns="0" tIns="0" rIns="0" bIns="0" rtlCol="0" anchor="t"/>
          <a:lstStyle/>
          <a:p>
            <a:pPr indent="0" marL="0">
              <a:spcAft>
                <a:spcPts val="500"/>
              </a:spcAft>
              <a:buNone/>
            </a:pPr>
            <a:r>
              <a:rPr lang="en-US" sz="1700" b="1" dirty="0">
                <a:solidFill>
                  <a:schemeClr val="tx2"/>
                </a:solidFill>
              </a:rPr>
              <a:t>Reading the confusion matrix</a:t>
            </a:r>
            <a:endParaRPr lang="en-US" sz="1500" dirty="0"/>
          </a:p>
          <a:p>
            <a:pPr marL="342900" indent="-342900">
              <a:spcAft>
                <a:spcPts val="500"/>
              </a:spcAft>
              <a:buSzPct val="100000"/>
              <a:buChar char="•"/>
            </a:pPr>
            <a:r>
              <a:rPr lang="en-US" sz="1500" dirty="0">
                <a:solidFill>
                  <a:schemeClr val="tx1"/>
                </a:solidFill>
              </a:rPr>
              <a:t>41 malignant tumours correctly flagged (true positives)</a:t>
            </a:r>
            <a:endParaRPr lang="en-US" sz="1500" dirty="0"/>
          </a:p>
          <a:p>
            <a:pPr marL="342900" indent="-342900">
              <a:spcAft>
                <a:spcPts val="500"/>
              </a:spcAft>
              <a:buSzPct val="100000"/>
              <a:buChar char="•"/>
            </a:pPr>
            <a:r>
              <a:rPr lang="en-US" sz="1500" dirty="0">
                <a:solidFill>
                  <a:schemeClr val="tx1"/>
                </a:solidFill>
              </a:rPr>
              <a:t>69 benign tumours correctly cleared (true negatives)</a:t>
            </a:r>
            <a:endParaRPr lang="en-US" sz="1500" dirty="0"/>
          </a:p>
          <a:p>
            <a:pPr marL="342900" indent="-342900">
              <a:spcAft>
                <a:spcPts val="500"/>
              </a:spcAft>
              <a:buSzPct val="100000"/>
              <a:buChar char="•"/>
            </a:pPr>
            <a:r>
              <a:rPr lang="en-US" sz="1500" dirty="0">
                <a:solidFill>
                  <a:schemeClr val="tx1"/>
                </a:solidFill>
              </a:rPr>
              <a:t>1 cancer missed (false negative): the costliest error, kept to a minimum</a:t>
            </a:r>
            <a:endParaRPr lang="en-US" sz="1500" dirty="0"/>
          </a:p>
          <a:p>
            <a:pPr marL="342900" indent="-342900">
              <a:spcAft>
                <a:spcPts val="500"/>
              </a:spcAft>
              <a:buSzPct val="100000"/>
              <a:buChar char="•"/>
            </a:pPr>
            <a:r>
              <a:rPr lang="en-US" sz="1500" dirty="0">
                <a:solidFill>
                  <a:schemeClr val="tx1"/>
                </a:solidFill>
              </a:rPr>
              <a:t>3 benign cases flagged for review (false positives): safer than missing a cancer</a:t>
            </a:r>
            <a:endParaRPr lang="en-US" sz="1500" dirty="0"/>
          </a:p>
          <a:p>
            <a:pPr indent="0" marL="0">
              <a:spcAft>
                <a:spcPts val="500"/>
              </a:spcAft>
              <a:buNone/>
            </a:pPr>
            <a:r>
              <a:rPr lang="en-US" sz="1500" b="1" dirty="0">
                <a:solidFill>
                  <a:schemeClr val="accent1"/>
                </a:solidFill>
              </a:rPr>
              <a:t>Precision 93.2% · F1 95.3% · Specificity 95.8%</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Evaluation in detail</a:t>
            </a:r>
            <a:endParaRPr lang="en-US" sz="3400" dirty="0"/>
          </a:p>
        </p:txBody>
      </p:sp>
      <p:pic>
        <p:nvPicPr>
          <p:cNvPr id="3" name="ROC curve" descr="/home/claude/project/breast-cancer-classification-nn/results/figures/06_roc_curve.png">    </p:cNvPr>
          <p:cNvPicPr>
            <a:picLocks noChangeAspect="1"/>
          </p:cNvPicPr>
          <p:nvPr/>
        </p:nvPicPr>
        <p:blipFill>
          <a:blip r:embed="rId1"/>
          <a:stretch>
            <a:fillRect/>
          </a:stretch>
        </p:blipFill>
        <p:spPr>
          <a:xfrm>
            <a:off x="457200" y="1368564"/>
            <a:ext cx="4937760" cy="4669511"/>
          </a:xfrm>
          <a:prstGeom prst="rect">
            <a:avLst/>
          </a:prstGeom>
        </p:spPr>
      </p:pic>
      <p:graphicFrame>
        <p:nvGraphicFramePr>
          <p:cNvPr id="12" name="Classification report table"/>
          <p:cNvGraphicFramePr>
            <a:graphicFrameLocks noGrp="1"/>
          </p:cNvGraphicFramePr>
          <p:nvPr>
            <p:extLst>
              <p:ext uri="{D42A27DB-BD31-4B8C-83A1-F6EECF244321}">
                <p14:modId xmlns:p14="http://schemas.microsoft.com/office/powerpoint/2010/main" val="1579011935"/>
              </p:ext>
            </p:extLst>
          </p:nvPr>
        </p:nvGraphicFramePr>
        <p:xfrm>
          <a:off x="5760720" y="1371600"/>
          <a:ext cx="5852160" cy="914400"/>
        </p:xfrm>
        <a:graphic>
          <a:graphicData uri="http://schemas.openxmlformats.org/drawingml/2006/table">
            <a:tbl>
              <a:tblPr/>
              <a:tblGrid>
                <a:gridCol w="1737360"/>
                <a:gridCol w="1051560"/>
                <a:gridCol w="1005840"/>
                <a:gridCol w="1051560"/>
                <a:gridCol w="1005840"/>
              </a:tblGrid>
              <a:tr h="4572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Class</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solidFill>
                      <a:srgbClr val="3A1F33"/>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Precision</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solidFill>
                      <a:srgbClr val="3A1F33"/>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Recall</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solidFill>
                      <a:srgbClr val="3A1F33"/>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F1-score</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solidFill>
                      <a:srgbClr val="3A1F33"/>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Patients</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solidFill>
                      <a:srgbClr val="3A1F33"/>
                    </a:solidFill>
                  </a:tcPr>
                </a:tc>
              </a:tr>
              <a:tr h="457200">
                <a:tc>
                  <a:txBody>
                    <a:bodyPr/>
                    <a:lstStyle/>
                    <a:p>
                      <a:pPr algn="l" indent="0" marL="0">
                        <a:buNone/>
                      </a:pPr>
                      <a:r>
                        <a:rPr lang="en-US" sz="1400" b="1" dirty="0">
                          <a:solidFill>
                            <a:srgbClr val="1E1A1D"/>
                          </a:solidFill>
                          <a:latin typeface="Calibri" pitchFamily="34" charset="0"/>
                          <a:ea typeface="Calibri" pitchFamily="34" charset="-122"/>
                          <a:cs typeface="Calibri" pitchFamily="34" charset="-120"/>
                        </a:rPr>
                        <a:t>Malignant</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400" dirty="0">
                          <a:solidFill>
                            <a:srgbClr val="1E1A1D"/>
                          </a:solidFill>
                          <a:latin typeface="Calibri" pitchFamily="34" charset="0"/>
                          <a:ea typeface="Calibri" pitchFamily="34" charset="-122"/>
                          <a:cs typeface="Calibri" pitchFamily="34" charset="-120"/>
                        </a:rPr>
                        <a:t>93.2%</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400" dirty="0">
                          <a:solidFill>
                            <a:srgbClr val="1E1A1D"/>
                          </a:solidFill>
                          <a:latin typeface="Calibri" pitchFamily="34" charset="0"/>
                          <a:ea typeface="Calibri" pitchFamily="34" charset="-122"/>
                          <a:cs typeface="Calibri" pitchFamily="34" charset="-120"/>
                        </a:rPr>
                        <a:t>97.6%</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400" dirty="0">
                          <a:solidFill>
                            <a:srgbClr val="1E1A1D"/>
                          </a:solidFill>
                          <a:latin typeface="Calibri" pitchFamily="34" charset="0"/>
                          <a:ea typeface="Calibri" pitchFamily="34" charset="-122"/>
                          <a:cs typeface="Calibri" pitchFamily="34" charset="-120"/>
                        </a:rPr>
                        <a:t>95.3%</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400" dirty="0">
                          <a:solidFill>
                            <a:srgbClr val="1E1A1D"/>
                          </a:solidFill>
                          <a:latin typeface="Calibri" pitchFamily="34" charset="0"/>
                          <a:ea typeface="Calibri" pitchFamily="34" charset="-122"/>
                          <a:cs typeface="Calibri" pitchFamily="34" charset="-120"/>
                        </a:rPr>
                        <a:t>42</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r>
              <a:tr h="457200">
                <a:tc>
                  <a:txBody>
                    <a:bodyPr/>
                    <a:lstStyle/>
                    <a:p>
                      <a:pPr algn="l" indent="0" marL="0">
                        <a:buNone/>
                      </a:pPr>
                      <a:r>
                        <a:rPr lang="en-US" sz="1400" b="1" dirty="0">
                          <a:solidFill>
                            <a:srgbClr val="1E1A1D"/>
                          </a:solidFill>
                          <a:latin typeface="Calibri" pitchFamily="34" charset="0"/>
                          <a:ea typeface="Calibri" pitchFamily="34" charset="-122"/>
                          <a:cs typeface="Calibri" pitchFamily="34" charset="-120"/>
                        </a:rPr>
                        <a:t>Benign</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400" dirty="0">
                          <a:solidFill>
                            <a:srgbClr val="1E1A1D"/>
                          </a:solidFill>
                          <a:latin typeface="Calibri" pitchFamily="34" charset="0"/>
                          <a:ea typeface="Calibri" pitchFamily="34" charset="-122"/>
                          <a:cs typeface="Calibri" pitchFamily="34" charset="-120"/>
                        </a:rPr>
                        <a:t>98.6%</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400" dirty="0">
                          <a:solidFill>
                            <a:srgbClr val="1E1A1D"/>
                          </a:solidFill>
                          <a:latin typeface="Calibri" pitchFamily="34" charset="0"/>
                          <a:ea typeface="Calibri" pitchFamily="34" charset="-122"/>
                          <a:cs typeface="Calibri" pitchFamily="34" charset="-120"/>
                        </a:rPr>
                        <a:t>95.8%</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400" dirty="0">
                          <a:solidFill>
                            <a:srgbClr val="1E1A1D"/>
                          </a:solidFill>
                          <a:latin typeface="Calibri" pitchFamily="34" charset="0"/>
                          <a:ea typeface="Calibri" pitchFamily="34" charset="-122"/>
                          <a:cs typeface="Calibri" pitchFamily="34" charset="-120"/>
                        </a:rPr>
                        <a:t>97.2%</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400" dirty="0">
                          <a:solidFill>
                            <a:srgbClr val="1E1A1D"/>
                          </a:solidFill>
                          <a:latin typeface="Calibri" pitchFamily="34" charset="0"/>
                          <a:ea typeface="Calibri" pitchFamily="34" charset="-122"/>
                          <a:cs typeface="Calibri" pitchFamily="34" charset="-120"/>
                        </a:rPr>
                        <a:t>72</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r>
              <a:tr h="457200">
                <a:tc>
                  <a:txBody>
                    <a:bodyPr/>
                    <a:lstStyle/>
                    <a:p>
                      <a:pPr algn="l" indent="0" marL="0">
                        <a:buNone/>
                      </a:pPr>
                      <a:r>
                        <a:rPr lang="en-US" sz="1400" b="1" dirty="0">
                          <a:solidFill>
                            <a:srgbClr val="1E1A1D"/>
                          </a:solidFill>
                          <a:latin typeface="Calibri" pitchFamily="34" charset="0"/>
                          <a:ea typeface="Calibri" pitchFamily="34" charset="-122"/>
                          <a:cs typeface="Calibri" pitchFamily="34" charset="-120"/>
                        </a:rPr>
                        <a:t>Macro average</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400" dirty="0">
                          <a:solidFill>
                            <a:srgbClr val="1E1A1D"/>
                          </a:solidFill>
                          <a:latin typeface="Calibri" pitchFamily="34" charset="0"/>
                          <a:ea typeface="Calibri" pitchFamily="34" charset="-122"/>
                          <a:cs typeface="Calibri" pitchFamily="34" charset="-120"/>
                        </a:rPr>
                        <a:t>95.9%</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400" dirty="0">
                          <a:solidFill>
                            <a:srgbClr val="1E1A1D"/>
                          </a:solidFill>
                          <a:latin typeface="Calibri" pitchFamily="34" charset="0"/>
                          <a:ea typeface="Calibri" pitchFamily="34" charset="-122"/>
                          <a:cs typeface="Calibri" pitchFamily="34" charset="-120"/>
                        </a:rPr>
                        <a:t>96.7%</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400" dirty="0">
                          <a:solidFill>
                            <a:srgbClr val="1E1A1D"/>
                          </a:solidFill>
                          <a:latin typeface="Calibri" pitchFamily="34" charset="0"/>
                          <a:ea typeface="Calibri" pitchFamily="34" charset="-122"/>
                          <a:cs typeface="Calibri" pitchFamily="34" charset="-120"/>
                        </a:rPr>
                        <a:t>96.3%</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400" dirty="0">
                          <a:solidFill>
                            <a:srgbClr val="1E1A1D"/>
                          </a:solidFill>
                          <a:latin typeface="Calibri" pitchFamily="34" charset="0"/>
                          <a:ea typeface="Calibri" pitchFamily="34" charset="-122"/>
                          <a:cs typeface="Calibri" pitchFamily="34" charset="-120"/>
                        </a:rPr>
                        <a:t>114</a:t>
                      </a:r>
                      <a:endParaRPr lang="en-US" sz="14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r>
            </a:tbl>
          </a:graphicData>
        </a:graphic>
      </p:graphicFrame>
      <p:sp>
        <p:nvSpPr>
          <p:cNvPr id="5" name="Metric definitions"/>
          <p:cNvSpPr txBox="1"/>
          <p:nvPr/>
        </p:nvSpPr>
        <p:spPr>
          <a:xfrm>
            <a:off x="5760720" y="3429000"/>
            <a:ext cx="5852160" cy="2377440"/>
          </a:xfrm>
          <a:prstGeom prst="rect">
            <a:avLst/>
          </a:prstGeom>
          <a:noFill/>
          <a:ln/>
        </p:spPr>
        <p:txBody>
          <a:bodyPr wrap="square" lIns="0" tIns="0" rIns="0" bIns="0" rtlCol="0" anchor="t"/>
          <a:lstStyle/>
          <a:p>
            <a:pPr indent="0" marL="0">
              <a:spcAft>
                <a:spcPts val="800"/>
              </a:spcAft>
              <a:buNone/>
            </a:pPr>
            <a:r>
              <a:rPr lang="en-US" sz="1500" b="1" dirty="0">
                <a:solidFill>
                  <a:schemeClr val="tx2"/>
                </a:solidFill>
              </a:rPr>
              <a:t>Precision: </a:t>
            </a:r>
            <a:pPr indent="0" marL="0">
              <a:spcAft>
                <a:spcPts val="800"/>
              </a:spcAft>
              <a:buNone/>
            </a:pPr>
            <a:r>
              <a:rPr lang="en-US" sz="1500" dirty="0">
                <a:solidFill>
                  <a:schemeClr val="tx1"/>
                </a:solidFill>
              </a:rPr>
              <a:t>Of the tumours called malignant, how many really were</a:t>
            </a:r>
            <a:endParaRPr lang="en-US" sz="1500" dirty="0"/>
          </a:p>
          <a:p>
            <a:pPr indent="0" marL="0">
              <a:spcAft>
                <a:spcPts val="800"/>
              </a:spcAft>
              <a:buNone/>
            </a:pPr>
            <a:r>
              <a:rPr lang="en-US" sz="1500" b="1" dirty="0">
                <a:solidFill>
                  <a:schemeClr val="tx2"/>
                </a:solidFill>
              </a:rPr>
              <a:t>Recall (sensitivity): </a:t>
            </a:r>
            <a:pPr indent="0" marL="0">
              <a:spcAft>
                <a:spcPts val="800"/>
              </a:spcAft>
              <a:buNone/>
            </a:pPr>
            <a:r>
              <a:rPr lang="en-US" sz="1500" dirty="0">
                <a:solidFill>
                  <a:schemeClr val="tx1"/>
                </a:solidFill>
              </a:rPr>
              <a:t>Of the real cancers, how many the model caught</a:t>
            </a:r>
            <a:endParaRPr lang="en-US" sz="1500" dirty="0"/>
          </a:p>
          <a:p>
            <a:pPr indent="0" marL="0">
              <a:spcAft>
                <a:spcPts val="800"/>
              </a:spcAft>
              <a:buNone/>
            </a:pPr>
            <a:r>
              <a:rPr lang="en-US" sz="1500" b="1" dirty="0">
                <a:solidFill>
                  <a:schemeClr val="tx2"/>
                </a:solidFill>
              </a:rPr>
              <a:t>F1-score: </a:t>
            </a:r>
            <a:pPr indent="0" marL="0">
              <a:spcAft>
                <a:spcPts val="800"/>
              </a:spcAft>
              <a:buNone/>
            </a:pPr>
            <a:r>
              <a:rPr lang="en-US" sz="1500" dirty="0">
                <a:solidFill>
                  <a:schemeClr val="tx1"/>
                </a:solidFill>
              </a:rPr>
              <a:t>Balance of precision and recall (harmonic mean)</a:t>
            </a:r>
            <a:endParaRPr lang="en-US" sz="1500" dirty="0"/>
          </a:p>
          <a:p>
            <a:pPr indent="0" marL="0">
              <a:spcAft>
                <a:spcPts val="800"/>
              </a:spcAft>
              <a:buNone/>
            </a:pPr>
            <a:r>
              <a:rPr lang="en-US" sz="1500" b="1" dirty="0">
                <a:solidFill>
                  <a:schemeClr val="tx2"/>
                </a:solidFill>
              </a:rPr>
              <a:t>ROC-AUC: </a:t>
            </a:r>
            <a:pPr indent="0" marL="0">
              <a:spcAft>
                <a:spcPts val="800"/>
              </a:spcAft>
              <a:buNone/>
            </a:pPr>
            <a:r>
              <a:rPr lang="en-US" sz="1500" dirty="0">
                <a:solidFill>
                  <a:schemeClr val="tx1"/>
                </a:solidFill>
              </a:rPr>
              <a:t>How well the model ranks malignant above benign at every threshold</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Comparison with classical machine learning</a:t>
            </a:r>
            <a:endParaRPr lang="en-US" sz="3400" dirty="0"/>
          </a:p>
        </p:txBody>
      </p:sp>
      <p:graphicFrame>
        <p:nvGraphicFramePr>
          <p:cNvPr id="13" name="Comparison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200400"/>
                <a:gridCol w="1463040"/>
                <a:gridCol w="1737360"/>
                <a:gridCol w="1463040"/>
                <a:gridCol w="1280160"/>
                <a:gridCol w="1920240"/>
              </a:tblGrid>
              <a:tr h="50292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Model</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solidFill>
                      <a:srgbClr val="3A1F33"/>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Test accuracy</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solidFill>
                      <a:srgbClr val="3A1F33"/>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Recall (malignant)</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solidFill>
                      <a:srgbClr val="3A1F33"/>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F1 (malignant)</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solidFill>
                      <a:srgbClr val="3A1F33"/>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ROC-AUC</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solidFill>
                      <a:srgbClr val="3A1F33"/>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5-fold CV accuracy</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solidFill>
                      <a:srgbClr val="3A1F33"/>
                    </a:solidFill>
                  </a:tcPr>
                </a:tc>
              </a:tr>
              <a:tr h="502920">
                <a:tc>
                  <a:txBody>
                    <a:bodyPr/>
                    <a:lstStyle/>
                    <a:p>
                      <a:pPr algn="l" indent="0" marL="0">
                        <a:buNone/>
                      </a:pPr>
                      <a:r>
                        <a:rPr lang="en-US" sz="1500" b="1" dirty="0">
                          <a:solidFill>
                            <a:srgbClr val="1E1A1D"/>
                          </a:solidFill>
                          <a:latin typeface="Calibri" pitchFamily="34" charset="0"/>
                          <a:ea typeface="Calibri" pitchFamily="34" charset="-122"/>
                          <a:cs typeface="Calibri" pitchFamily="34" charset="-120"/>
                        </a:rPr>
                        <a:t>Neural Network (ours)</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solidFill>
                      <a:srgbClr val="EBD6E0"/>
                    </a:solidFill>
                  </a:tcPr>
                </a:tc>
                <a:tc>
                  <a:txBody>
                    <a:bodyPr/>
                    <a:lstStyle/>
                    <a:p>
                      <a:pPr algn="ctr" indent="0" marL="0">
                        <a:buNone/>
                      </a:pPr>
                      <a:r>
                        <a:rPr lang="en-US" sz="1500" b="1" dirty="0">
                          <a:solidFill>
                            <a:srgbClr val="1E1A1D"/>
                          </a:solidFill>
                          <a:latin typeface="Calibri" pitchFamily="34" charset="0"/>
                          <a:ea typeface="Calibri" pitchFamily="34" charset="-122"/>
                          <a:cs typeface="Calibri" pitchFamily="34" charset="-120"/>
                        </a:rPr>
                        <a:t>96.49%</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solidFill>
                      <a:srgbClr val="EBD6E0"/>
                    </a:solidFill>
                  </a:tcPr>
                </a:tc>
                <a:tc>
                  <a:txBody>
                    <a:bodyPr/>
                    <a:lstStyle/>
                    <a:p>
                      <a:pPr algn="ctr" indent="0" marL="0">
                        <a:buNone/>
                      </a:pPr>
                      <a:r>
                        <a:rPr lang="en-US" sz="1500" b="1" dirty="0">
                          <a:solidFill>
                            <a:srgbClr val="1E1A1D"/>
                          </a:solidFill>
                          <a:latin typeface="Calibri" pitchFamily="34" charset="0"/>
                          <a:ea typeface="Calibri" pitchFamily="34" charset="-122"/>
                          <a:cs typeface="Calibri" pitchFamily="34" charset="-120"/>
                        </a:rPr>
                        <a:t>97.62%</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solidFill>
                      <a:srgbClr val="EBD6E0"/>
                    </a:solidFill>
                  </a:tcPr>
                </a:tc>
                <a:tc>
                  <a:txBody>
                    <a:bodyPr/>
                    <a:lstStyle/>
                    <a:p>
                      <a:pPr algn="ctr" indent="0" marL="0">
                        <a:buNone/>
                      </a:pPr>
                      <a:r>
                        <a:rPr lang="en-US" sz="1500" b="1" dirty="0">
                          <a:solidFill>
                            <a:srgbClr val="1E1A1D"/>
                          </a:solidFill>
                          <a:latin typeface="Calibri" pitchFamily="34" charset="0"/>
                          <a:ea typeface="Calibri" pitchFamily="34" charset="-122"/>
                          <a:cs typeface="Calibri" pitchFamily="34" charset="-120"/>
                        </a:rPr>
                        <a:t>95.35%</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solidFill>
                      <a:srgbClr val="EBD6E0"/>
                    </a:solidFill>
                  </a:tcPr>
                </a:tc>
                <a:tc>
                  <a:txBody>
                    <a:bodyPr/>
                    <a:lstStyle/>
                    <a:p>
                      <a:pPr algn="ctr" indent="0" marL="0">
                        <a:buNone/>
                      </a:pPr>
                      <a:r>
                        <a:rPr lang="en-US" sz="1500" b="1" dirty="0">
                          <a:solidFill>
                            <a:srgbClr val="1E1A1D"/>
                          </a:solidFill>
                          <a:latin typeface="Calibri" pitchFamily="34" charset="0"/>
                          <a:ea typeface="Calibri" pitchFamily="34" charset="-122"/>
                          <a:cs typeface="Calibri" pitchFamily="34" charset="-120"/>
                        </a:rPr>
                        <a:t>0.994</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solidFill>
                      <a:srgbClr val="EBD6E0"/>
                    </a:solidFill>
                  </a:tcPr>
                </a:tc>
                <a:tc>
                  <a:txBody>
                    <a:bodyPr/>
                    <a:lstStyle/>
                    <a:p>
                      <a:pPr algn="ctr" indent="0" marL="0">
                        <a:buNone/>
                      </a:pPr>
                      <a:r>
                        <a:rPr lang="en-US" sz="1500" b="1" dirty="0">
                          <a:solidFill>
                            <a:srgbClr val="1E1A1D"/>
                          </a:solidFill>
                          <a:latin typeface="Calibri" pitchFamily="34" charset="0"/>
                          <a:ea typeface="Calibri" pitchFamily="34" charset="-122"/>
                          <a:cs typeface="Calibri" pitchFamily="34" charset="-120"/>
                        </a:rPr>
                        <a:t>97.72% ± 0.89%</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solidFill>
                      <a:srgbClr val="EBD6E0"/>
                    </a:solidFill>
                  </a:tcPr>
                </a:tc>
              </a:tr>
              <a:tr h="502920">
                <a:tc>
                  <a:txBody>
                    <a:bodyPr/>
                    <a:lstStyle/>
                    <a:p>
                      <a:pPr algn="l" indent="0" marL="0">
                        <a:buNone/>
                      </a:pPr>
                      <a:r>
                        <a:rPr lang="en-US" sz="1500" dirty="0">
                          <a:solidFill>
                            <a:srgbClr val="1E1A1D"/>
                          </a:solidFill>
                          <a:latin typeface="Calibri" pitchFamily="34" charset="0"/>
                          <a:ea typeface="Calibri" pitchFamily="34" charset="-122"/>
                          <a:cs typeface="Calibri" pitchFamily="34" charset="-120"/>
                        </a:rPr>
                        <a:t>Logistic Regression</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500" dirty="0">
                          <a:solidFill>
                            <a:srgbClr val="1E1A1D"/>
                          </a:solidFill>
                          <a:latin typeface="Calibri" pitchFamily="34" charset="0"/>
                          <a:ea typeface="Calibri" pitchFamily="34" charset="-122"/>
                          <a:cs typeface="Calibri" pitchFamily="34" charset="-120"/>
                        </a:rPr>
                        <a:t>98.25%</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500" dirty="0">
                          <a:solidFill>
                            <a:srgbClr val="1E1A1D"/>
                          </a:solidFill>
                          <a:latin typeface="Calibri" pitchFamily="34" charset="0"/>
                          <a:ea typeface="Calibri" pitchFamily="34" charset="-122"/>
                          <a:cs typeface="Calibri" pitchFamily="34" charset="-120"/>
                        </a:rPr>
                        <a:t>97.62%</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500" dirty="0">
                          <a:solidFill>
                            <a:srgbClr val="1E1A1D"/>
                          </a:solidFill>
                          <a:latin typeface="Calibri" pitchFamily="34" charset="0"/>
                          <a:ea typeface="Calibri" pitchFamily="34" charset="-122"/>
                          <a:cs typeface="Calibri" pitchFamily="34" charset="-120"/>
                        </a:rPr>
                        <a:t>97.62%</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500" dirty="0">
                          <a:solidFill>
                            <a:srgbClr val="1E1A1D"/>
                          </a:solidFill>
                          <a:latin typeface="Calibri" pitchFamily="34" charset="0"/>
                          <a:ea typeface="Calibri" pitchFamily="34" charset="-122"/>
                          <a:cs typeface="Calibri" pitchFamily="34" charset="-120"/>
                        </a:rPr>
                        <a:t>0.996</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500" dirty="0">
                          <a:solidFill>
                            <a:srgbClr val="1E1A1D"/>
                          </a:solidFill>
                          <a:latin typeface="Calibri" pitchFamily="34" charset="0"/>
                          <a:ea typeface="Calibri" pitchFamily="34" charset="-122"/>
                          <a:cs typeface="Calibri" pitchFamily="34" charset="-120"/>
                        </a:rPr>
                        <a:t>97.37% ± 1.66%</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r>
              <a:tr h="502920">
                <a:tc>
                  <a:txBody>
                    <a:bodyPr/>
                    <a:lstStyle/>
                    <a:p>
                      <a:pPr algn="l" indent="0" marL="0">
                        <a:buNone/>
                      </a:pPr>
                      <a:r>
                        <a:rPr lang="en-US" sz="1500" dirty="0">
                          <a:solidFill>
                            <a:srgbClr val="1E1A1D"/>
                          </a:solidFill>
                          <a:latin typeface="Calibri" pitchFamily="34" charset="0"/>
                          <a:ea typeface="Calibri" pitchFamily="34" charset="-122"/>
                          <a:cs typeface="Calibri" pitchFamily="34" charset="-120"/>
                        </a:rPr>
                        <a:t>Support Vector Machine (RBF)</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500" dirty="0">
                          <a:solidFill>
                            <a:srgbClr val="1E1A1D"/>
                          </a:solidFill>
                          <a:latin typeface="Calibri" pitchFamily="34" charset="0"/>
                          <a:ea typeface="Calibri" pitchFamily="34" charset="-122"/>
                          <a:cs typeface="Calibri" pitchFamily="34" charset="-120"/>
                        </a:rPr>
                        <a:t>98.25%</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500" dirty="0">
                          <a:solidFill>
                            <a:srgbClr val="1E1A1D"/>
                          </a:solidFill>
                          <a:latin typeface="Calibri" pitchFamily="34" charset="0"/>
                          <a:ea typeface="Calibri" pitchFamily="34" charset="-122"/>
                          <a:cs typeface="Calibri" pitchFamily="34" charset="-120"/>
                        </a:rPr>
                        <a:t>97.62%</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500" dirty="0">
                          <a:solidFill>
                            <a:srgbClr val="1E1A1D"/>
                          </a:solidFill>
                          <a:latin typeface="Calibri" pitchFamily="34" charset="0"/>
                          <a:ea typeface="Calibri" pitchFamily="34" charset="-122"/>
                          <a:cs typeface="Calibri" pitchFamily="34" charset="-120"/>
                        </a:rPr>
                        <a:t>97.62%</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500" dirty="0">
                          <a:solidFill>
                            <a:srgbClr val="1E1A1D"/>
                          </a:solidFill>
                          <a:latin typeface="Calibri" pitchFamily="34" charset="0"/>
                          <a:ea typeface="Calibri" pitchFamily="34" charset="-122"/>
                          <a:cs typeface="Calibri" pitchFamily="34" charset="-120"/>
                        </a:rPr>
                        <a:t>0.995</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500" dirty="0">
                          <a:solidFill>
                            <a:srgbClr val="1E1A1D"/>
                          </a:solidFill>
                          <a:latin typeface="Calibri" pitchFamily="34" charset="0"/>
                          <a:ea typeface="Calibri" pitchFamily="34" charset="-122"/>
                          <a:cs typeface="Calibri" pitchFamily="34" charset="-120"/>
                        </a:rPr>
                        <a:t>97.72% ± 1.63%</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r>
              <a:tr h="502920">
                <a:tc>
                  <a:txBody>
                    <a:bodyPr/>
                    <a:lstStyle/>
                    <a:p>
                      <a:pPr algn="l" indent="0" marL="0">
                        <a:buNone/>
                      </a:pPr>
                      <a:r>
                        <a:rPr lang="en-US" sz="1500" dirty="0">
                          <a:solidFill>
                            <a:srgbClr val="1E1A1D"/>
                          </a:solidFill>
                          <a:latin typeface="Calibri" pitchFamily="34" charset="0"/>
                          <a:ea typeface="Calibri" pitchFamily="34" charset="-122"/>
                          <a:cs typeface="Calibri" pitchFamily="34" charset="-120"/>
                        </a:rPr>
                        <a:t>K-Nearest Neighbours (k=5)</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500" dirty="0">
                          <a:solidFill>
                            <a:srgbClr val="1E1A1D"/>
                          </a:solidFill>
                          <a:latin typeface="Calibri" pitchFamily="34" charset="0"/>
                          <a:ea typeface="Calibri" pitchFamily="34" charset="-122"/>
                          <a:cs typeface="Calibri" pitchFamily="34" charset="-120"/>
                        </a:rPr>
                        <a:t>95.61%</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500" dirty="0">
                          <a:solidFill>
                            <a:srgbClr val="1E1A1D"/>
                          </a:solidFill>
                          <a:latin typeface="Calibri" pitchFamily="34" charset="0"/>
                          <a:ea typeface="Calibri" pitchFamily="34" charset="-122"/>
                          <a:cs typeface="Calibri" pitchFamily="34" charset="-120"/>
                        </a:rPr>
                        <a:t>92.86%</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500" dirty="0">
                          <a:solidFill>
                            <a:srgbClr val="1E1A1D"/>
                          </a:solidFill>
                          <a:latin typeface="Calibri" pitchFamily="34" charset="0"/>
                          <a:ea typeface="Calibri" pitchFamily="34" charset="-122"/>
                          <a:cs typeface="Calibri" pitchFamily="34" charset="-120"/>
                        </a:rPr>
                        <a:t>93.98%</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500" dirty="0">
                          <a:solidFill>
                            <a:srgbClr val="1E1A1D"/>
                          </a:solidFill>
                          <a:latin typeface="Calibri" pitchFamily="34" charset="0"/>
                          <a:ea typeface="Calibri" pitchFamily="34" charset="-122"/>
                          <a:cs typeface="Calibri" pitchFamily="34" charset="-120"/>
                        </a:rPr>
                        <a:t>0.979</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500" dirty="0">
                          <a:solidFill>
                            <a:srgbClr val="1E1A1D"/>
                          </a:solidFill>
                          <a:latin typeface="Calibri" pitchFamily="34" charset="0"/>
                          <a:ea typeface="Calibri" pitchFamily="34" charset="-122"/>
                          <a:cs typeface="Calibri" pitchFamily="34" charset="-120"/>
                        </a:rPr>
                        <a:t>96.31% ± 1.79%</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r>
              <a:tr h="502920">
                <a:tc>
                  <a:txBody>
                    <a:bodyPr/>
                    <a:lstStyle/>
                    <a:p>
                      <a:pPr algn="l" indent="0" marL="0">
                        <a:buNone/>
                      </a:pPr>
                      <a:r>
                        <a:rPr lang="en-US" sz="1500" dirty="0">
                          <a:solidFill>
                            <a:srgbClr val="1E1A1D"/>
                          </a:solidFill>
                          <a:latin typeface="Calibri" pitchFamily="34" charset="0"/>
                          <a:ea typeface="Calibri" pitchFamily="34" charset="-122"/>
                          <a:cs typeface="Calibri" pitchFamily="34" charset="-120"/>
                        </a:rPr>
                        <a:t>Random Forest (200 trees)</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500" dirty="0">
                          <a:solidFill>
                            <a:srgbClr val="1E1A1D"/>
                          </a:solidFill>
                          <a:latin typeface="Calibri" pitchFamily="34" charset="0"/>
                          <a:ea typeface="Calibri" pitchFamily="34" charset="-122"/>
                          <a:cs typeface="Calibri" pitchFamily="34" charset="-120"/>
                        </a:rPr>
                        <a:t>94.74%</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500" dirty="0">
                          <a:solidFill>
                            <a:srgbClr val="1E1A1D"/>
                          </a:solidFill>
                          <a:latin typeface="Calibri" pitchFamily="34" charset="0"/>
                          <a:ea typeface="Calibri" pitchFamily="34" charset="-122"/>
                          <a:cs typeface="Calibri" pitchFamily="34" charset="-120"/>
                        </a:rPr>
                        <a:t>92.86%</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500" dirty="0">
                          <a:solidFill>
                            <a:srgbClr val="1E1A1D"/>
                          </a:solidFill>
                          <a:latin typeface="Calibri" pitchFamily="34" charset="0"/>
                          <a:ea typeface="Calibri" pitchFamily="34" charset="-122"/>
                          <a:cs typeface="Calibri" pitchFamily="34" charset="-120"/>
                        </a:rPr>
                        <a:t>92.86%</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500" dirty="0">
                          <a:solidFill>
                            <a:srgbClr val="1E1A1D"/>
                          </a:solidFill>
                          <a:latin typeface="Calibri" pitchFamily="34" charset="0"/>
                          <a:ea typeface="Calibri" pitchFamily="34" charset="-122"/>
                          <a:cs typeface="Calibri" pitchFamily="34" charset="-120"/>
                        </a:rPr>
                        <a:t>0.994</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c>
                  <a:txBody>
                    <a:bodyPr/>
                    <a:lstStyle/>
                    <a:p>
                      <a:pPr algn="ctr" indent="0" marL="0">
                        <a:buNone/>
                      </a:pPr>
                      <a:r>
                        <a:rPr lang="en-US" sz="1500" dirty="0">
                          <a:solidFill>
                            <a:srgbClr val="1E1A1D"/>
                          </a:solidFill>
                          <a:latin typeface="Calibri" pitchFamily="34" charset="0"/>
                          <a:ea typeface="Calibri" pitchFamily="34" charset="-122"/>
                          <a:cs typeface="Calibri" pitchFamily="34" charset="-120"/>
                        </a:rPr>
                        <a:t>95.43% ± 1.02%</a:t>
                      </a:r>
                      <a:endParaRPr lang="en-US" sz="1500" dirty="0">
                        <a:latin typeface="Calibri" charset="0"/>
                        <a:ea typeface="Calibri" charset="0"/>
                        <a:cs typeface="Calibri" charset="0"/>
                      </a:endParaRPr>
                    </a:p>
                  </a:txBody>
                  <a:tcPr marL="91440" marR="91440" marT="45720" marB="45720" anchor="ctr">
                    <a:lnL w="9525" cap="flat" cmpd="sng" algn="ctr">
                      <a:solidFill>
                        <a:srgbClr val="E2D6DC"/>
                      </a:solidFill>
                      <a:prstDash val="solid"/>
                      <a:round/>
                      <a:headEnd type="none" w="med" len="med"/>
                      <a:tailEnd type="none" w="med" len="med"/>
                    </a:lnL>
                    <a:lnR w="9525" cap="flat" cmpd="sng" algn="ctr">
                      <a:solidFill>
                        <a:srgbClr val="E2D6DC"/>
                      </a:solidFill>
                      <a:prstDash val="solid"/>
                      <a:round/>
                      <a:headEnd type="none" w="med" len="med"/>
                      <a:tailEnd type="none" w="med" len="med"/>
                    </a:lnR>
                    <a:lnT w="9525" cap="flat" cmpd="sng" algn="ctr">
                      <a:solidFill>
                        <a:srgbClr val="E2D6DC"/>
                      </a:solidFill>
                      <a:prstDash val="solid"/>
                      <a:round/>
                      <a:headEnd type="none" w="med" len="med"/>
                      <a:tailEnd type="none" w="med" len="med"/>
                    </a:lnT>
                    <a:lnB w="9525" cap="flat" cmpd="sng" algn="ctr">
                      <a:solidFill>
                        <a:srgbClr val="E2D6DC"/>
                      </a:solidFill>
                      <a:prstDash val="solid"/>
                      <a:round/>
                      <a:headEnd type="none" w="med" len="med"/>
                      <a:tailEnd type="none" w="med" len="med"/>
                    </a:lnB>
                  </a:tcPr>
                </a:tc>
              </a:tr>
            </a:tbl>
          </a:graphicData>
        </a:graphic>
      </p:graphicFrame>
      <p:sp>
        <p:nvSpPr>
          <p:cNvPr id="4" name="Takeaway 1 circle"/>
          <p:cNvSpPr/>
          <p:nvPr/>
        </p:nvSpPr>
        <p:spPr>
          <a:xfrm>
            <a:off x="548640" y="4709160"/>
            <a:ext cx="594360" cy="594360"/>
          </a:xfrm>
          <a:prstGeom prst="ellipse">
            <a:avLst/>
          </a:prstGeom>
          <a:solidFill>
            <a:schemeClr val="accent1"/>
          </a:solidFill>
          <a:ln/>
        </p:spPr>
      </p:sp>
      <p:pic>
        <p:nvPicPr>
          <p:cNvPr id="5" name="Takeaway 1 icon" descr="preencoded.png">    </p:cNvPr>
          <p:cNvPicPr>
            <a:picLocks noChangeAspect="1"/>
          </p:cNvPicPr>
          <p:nvPr/>
        </p:nvPicPr>
        <p:blipFill>
          <a:blip r:embed="rId1"/>
          <a:stretch>
            <a:fillRect/>
          </a:stretch>
        </p:blipFill>
        <p:spPr>
          <a:xfrm>
            <a:off x="691286" y="4851806"/>
            <a:ext cx="309067" cy="309067"/>
          </a:xfrm>
          <a:prstGeom prst="rect">
            <a:avLst/>
          </a:prstGeom>
        </p:spPr>
      </p:pic>
      <p:sp>
        <p:nvSpPr>
          <p:cNvPr id="6" name="Takeaway 1 text"/>
          <p:cNvSpPr txBox="1"/>
          <p:nvPr/>
        </p:nvSpPr>
        <p:spPr>
          <a:xfrm>
            <a:off x="1280160" y="4663440"/>
            <a:ext cx="2834640" cy="1280160"/>
          </a:xfrm>
          <a:prstGeom prst="rect">
            <a:avLst/>
          </a:prstGeom>
          <a:noFill/>
          <a:ln/>
        </p:spPr>
        <p:txBody>
          <a:bodyPr wrap="square" lIns="0" tIns="0" rIns="0" bIns="0" rtlCol="0" anchor="t"/>
          <a:lstStyle/>
          <a:p>
            <a:pPr indent="0" marL="0">
              <a:buNone/>
            </a:pPr>
            <a:r>
              <a:rPr lang="en-US" sz="1600" b="1" dirty="0">
                <a:solidFill>
                  <a:schemeClr val="tx2"/>
                </a:solidFill>
              </a:rPr>
              <a:t>Ties for best sensitivity</a:t>
            </a:r>
            <a:endParaRPr lang="en-US" sz="1600" dirty="0"/>
          </a:p>
          <a:p>
            <a:pPr indent="0" marL="0">
              <a:buNone/>
            </a:pPr>
            <a:r>
              <a:rPr lang="en-US" sz="1400" dirty="0">
                <a:solidFill>
                  <a:schemeClr val="tx1"/>
                </a:solidFill>
              </a:rPr>
              <a:t>Same malignant recall (97.6%) as the strongest baselines</a:t>
            </a:r>
            <a:endParaRPr lang="en-US" sz="1600" dirty="0"/>
          </a:p>
        </p:txBody>
      </p:sp>
      <p:sp>
        <p:nvSpPr>
          <p:cNvPr id="7" name="Takeaway 2 circle"/>
          <p:cNvSpPr/>
          <p:nvPr/>
        </p:nvSpPr>
        <p:spPr>
          <a:xfrm>
            <a:off x="4297680" y="4709160"/>
            <a:ext cx="594360" cy="594360"/>
          </a:xfrm>
          <a:prstGeom prst="ellipse">
            <a:avLst/>
          </a:prstGeom>
          <a:solidFill>
            <a:schemeClr val="accent1"/>
          </a:solidFill>
          <a:ln/>
        </p:spPr>
      </p:sp>
      <p:pic>
        <p:nvPicPr>
          <p:cNvPr id="8" name="Takeaway 2 icon" descr="preencoded.png">    </p:cNvPr>
          <p:cNvPicPr>
            <a:picLocks noChangeAspect="1"/>
          </p:cNvPicPr>
          <p:nvPr/>
        </p:nvPicPr>
        <p:blipFill>
          <a:blip r:embed="rId2"/>
          <a:stretch>
            <a:fillRect/>
          </a:stretch>
        </p:blipFill>
        <p:spPr>
          <a:xfrm>
            <a:off x="4440326" y="4851806"/>
            <a:ext cx="309067" cy="309067"/>
          </a:xfrm>
          <a:prstGeom prst="rect">
            <a:avLst/>
          </a:prstGeom>
        </p:spPr>
      </p:pic>
      <p:sp>
        <p:nvSpPr>
          <p:cNvPr id="9" name="Takeaway 2 text"/>
          <p:cNvSpPr txBox="1"/>
          <p:nvPr/>
        </p:nvSpPr>
        <p:spPr>
          <a:xfrm>
            <a:off x="5029200" y="4663440"/>
            <a:ext cx="2834640" cy="1280160"/>
          </a:xfrm>
          <a:prstGeom prst="rect">
            <a:avLst/>
          </a:prstGeom>
          <a:noFill/>
          <a:ln/>
        </p:spPr>
        <p:txBody>
          <a:bodyPr wrap="square" lIns="0" tIns="0" rIns="0" bIns="0" rtlCol="0" anchor="t"/>
          <a:lstStyle/>
          <a:p>
            <a:pPr indent="0" marL="0">
              <a:buNone/>
            </a:pPr>
            <a:r>
              <a:rPr lang="en-US" sz="1600" b="1" dirty="0">
                <a:solidFill>
                  <a:schemeClr val="tx2"/>
                </a:solidFill>
              </a:rPr>
              <a:t>Most consistent</a:t>
            </a:r>
            <a:endParaRPr lang="en-US" sz="1600" dirty="0"/>
          </a:p>
          <a:p>
            <a:pPr indent="0" marL="0">
              <a:buNone/>
            </a:pPr>
            <a:r>
              <a:rPr lang="en-US" sz="1400" dirty="0">
                <a:solidFill>
                  <a:schemeClr val="tx1"/>
                </a:solidFill>
              </a:rPr>
              <a:t>Lowest variation across CV folds (± 0.9%)</a:t>
            </a:r>
            <a:endParaRPr lang="en-US" sz="1600" dirty="0"/>
          </a:p>
        </p:txBody>
      </p:sp>
      <p:sp>
        <p:nvSpPr>
          <p:cNvPr id="10" name="Takeaway 3 circle"/>
          <p:cNvSpPr/>
          <p:nvPr/>
        </p:nvSpPr>
        <p:spPr>
          <a:xfrm>
            <a:off x="8046720" y="4709160"/>
            <a:ext cx="594360" cy="594360"/>
          </a:xfrm>
          <a:prstGeom prst="ellipse">
            <a:avLst/>
          </a:prstGeom>
          <a:solidFill>
            <a:schemeClr val="accent1"/>
          </a:solidFill>
          <a:ln/>
        </p:spPr>
      </p:sp>
      <p:pic>
        <p:nvPicPr>
          <p:cNvPr id="11" name="Takeaway 3 icon" descr="preencoded.png">    </p:cNvPr>
          <p:cNvPicPr>
            <a:picLocks noChangeAspect="1"/>
          </p:cNvPicPr>
          <p:nvPr/>
        </p:nvPicPr>
        <p:blipFill>
          <a:blip r:embed="rId3"/>
          <a:stretch>
            <a:fillRect/>
          </a:stretch>
        </p:blipFill>
        <p:spPr>
          <a:xfrm>
            <a:off x="8189366" y="4851806"/>
            <a:ext cx="309067" cy="309067"/>
          </a:xfrm>
          <a:prstGeom prst="rect">
            <a:avLst/>
          </a:prstGeom>
        </p:spPr>
      </p:pic>
      <p:sp>
        <p:nvSpPr>
          <p:cNvPr id="12" name="Takeaway 3 text"/>
          <p:cNvSpPr txBox="1"/>
          <p:nvPr/>
        </p:nvSpPr>
        <p:spPr>
          <a:xfrm>
            <a:off x="8778240" y="4663440"/>
            <a:ext cx="2834640" cy="1280160"/>
          </a:xfrm>
          <a:prstGeom prst="rect">
            <a:avLst/>
          </a:prstGeom>
          <a:noFill/>
          <a:ln/>
        </p:spPr>
        <p:txBody>
          <a:bodyPr wrap="square" lIns="0" tIns="0" rIns="0" bIns="0" rtlCol="0" anchor="t"/>
          <a:lstStyle/>
          <a:p>
            <a:pPr indent="0" marL="0">
              <a:buNone/>
            </a:pPr>
            <a:r>
              <a:rPr lang="en-US" sz="1600" b="1" dirty="0">
                <a:solidFill>
                  <a:schemeClr val="tx2"/>
                </a:solidFill>
              </a:rPr>
              <a:t>Key finding</a:t>
            </a:r>
            <a:endParaRPr lang="en-US" sz="1600" dirty="0"/>
          </a:p>
          <a:p>
            <a:pPr indent="0" marL="0">
              <a:buNone/>
            </a:pPr>
            <a:r>
              <a:rPr lang="en-US" sz="1400" dirty="0">
                <a:solidFill>
                  <a:schemeClr val="tx1"/>
                </a:solidFill>
              </a:rPr>
              <a:t>On small, well-separated tabular data, simple linear models are just as strong</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Predictive system: diagnosing a new sample</a:t>
            </a:r>
            <a:endParaRPr lang="en-US" sz="3400" dirty="0"/>
          </a:p>
        </p:txBody>
      </p:sp>
      <p:sp>
        <p:nvSpPr>
          <p:cNvPr id="3" name="Flow step 1"/>
          <p:cNvSpPr/>
          <p:nvPr/>
        </p:nvSpPr>
        <p:spPr>
          <a:xfrm>
            <a:off x="548640" y="1371600"/>
            <a:ext cx="4206240" cy="658368"/>
          </a:xfrm>
          <a:prstGeom prst="roundRect">
            <a:avLst>
              <a:gd name="adj" fmla="val 16667"/>
            </a:avLst>
          </a:prstGeom>
          <a:solidFill>
            <a:schemeClr val="accent6"/>
          </a:solidFill>
          <a:ln/>
        </p:spPr>
      </p:sp>
      <p:sp>
        <p:nvSpPr>
          <p:cNvPr id="4" name="Flow 1 text"/>
          <p:cNvSpPr txBox="1"/>
          <p:nvPr/>
        </p:nvSpPr>
        <p:spPr>
          <a:xfrm>
            <a:off x="731520" y="1371600"/>
            <a:ext cx="3840480" cy="658368"/>
          </a:xfrm>
          <a:prstGeom prst="rect">
            <a:avLst/>
          </a:prstGeom>
          <a:noFill/>
          <a:ln/>
        </p:spPr>
        <p:txBody>
          <a:bodyPr wrap="square" lIns="0" tIns="0" rIns="0" bIns="0" rtlCol="0" anchor="ctr"/>
          <a:lstStyle/>
          <a:p>
            <a:pPr indent="0" marL="0">
              <a:buNone/>
            </a:pPr>
            <a:r>
              <a:rPr lang="en-US" sz="1600" dirty="0">
                <a:solidFill>
                  <a:schemeClr val="tx2"/>
                </a:solidFill>
              </a:rPr>
              <a:t>30 raw measurements</a:t>
            </a:r>
            <a:endParaRPr lang="en-US" sz="1600" dirty="0"/>
          </a:p>
        </p:txBody>
      </p:sp>
      <p:sp>
        <p:nvSpPr>
          <p:cNvPr id="5" name="Flow arrow 1"/>
          <p:cNvSpPr/>
          <p:nvPr/>
        </p:nvSpPr>
        <p:spPr>
          <a:xfrm>
            <a:off x="2514600" y="2048256"/>
            <a:ext cx="274320" cy="219456"/>
          </a:xfrm>
          <a:prstGeom prst="downArrow">
            <a:avLst/>
          </a:prstGeom>
          <a:solidFill>
            <a:schemeClr val="accent5"/>
          </a:solidFill>
          <a:ln/>
        </p:spPr>
      </p:sp>
      <p:sp>
        <p:nvSpPr>
          <p:cNvPr id="6" name="Flow step 2"/>
          <p:cNvSpPr/>
          <p:nvPr/>
        </p:nvSpPr>
        <p:spPr>
          <a:xfrm>
            <a:off x="548640" y="2286000"/>
            <a:ext cx="4206240" cy="658368"/>
          </a:xfrm>
          <a:prstGeom prst="roundRect">
            <a:avLst>
              <a:gd name="adj" fmla="val 16667"/>
            </a:avLst>
          </a:prstGeom>
          <a:solidFill>
            <a:schemeClr val="accent6"/>
          </a:solidFill>
          <a:ln/>
        </p:spPr>
      </p:sp>
      <p:sp>
        <p:nvSpPr>
          <p:cNvPr id="7" name="Flow 2 text"/>
          <p:cNvSpPr txBox="1"/>
          <p:nvPr/>
        </p:nvSpPr>
        <p:spPr>
          <a:xfrm>
            <a:off x="731520" y="2286000"/>
            <a:ext cx="3840480" cy="658368"/>
          </a:xfrm>
          <a:prstGeom prst="rect">
            <a:avLst/>
          </a:prstGeom>
          <a:noFill/>
          <a:ln/>
        </p:spPr>
        <p:txBody>
          <a:bodyPr wrap="square" lIns="0" tIns="0" rIns="0" bIns="0" rtlCol="0" anchor="ctr"/>
          <a:lstStyle/>
          <a:p>
            <a:pPr indent="0" marL="0">
              <a:buNone/>
            </a:pPr>
            <a:r>
              <a:rPr lang="en-US" sz="1600" dirty="0">
                <a:solidFill>
                  <a:schemeClr val="tx2"/>
                </a:solidFill>
              </a:rPr>
              <a:t>Same StandardScaler as training</a:t>
            </a:r>
            <a:endParaRPr lang="en-US" sz="1600" dirty="0"/>
          </a:p>
        </p:txBody>
      </p:sp>
      <p:sp>
        <p:nvSpPr>
          <p:cNvPr id="8" name="Flow arrow 2"/>
          <p:cNvSpPr/>
          <p:nvPr/>
        </p:nvSpPr>
        <p:spPr>
          <a:xfrm>
            <a:off x="2514600" y="2962656"/>
            <a:ext cx="274320" cy="219456"/>
          </a:xfrm>
          <a:prstGeom prst="downArrow">
            <a:avLst/>
          </a:prstGeom>
          <a:solidFill>
            <a:schemeClr val="accent5"/>
          </a:solidFill>
          <a:ln/>
        </p:spPr>
      </p:sp>
      <p:sp>
        <p:nvSpPr>
          <p:cNvPr id="9" name="Flow step 3"/>
          <p:cNvSpPr/>
          <p:nvPr/>
        </p:nvSpPr>
        <p:spPr>
          <a:xfrm>
            <a:off x="548640" y="3200400"/>
            <a:ext cx="4206240" cy="658368"/>
          </a:xfrm>
          <a:prstGeom prst="roundRect">
            <a:avLst>
              <a:gd name="adj" fmla="val 16667"/>
            </a:avLst>
          </a:prstGeom>
          <a:solidFill>
            <a:schemeClr val="accent6"/>
          </a:solidFill>
          <a:ln/>
        </p:spPr>
      </p:sp>
      <p:sp>
        <p:nvSpPr>
          <p:cNvPr id="10" name="Flow 3 text"/>
          <p:cNvSpPr txBox="1"/>
          <p:nvPr/>
        </p:nvSpPr>
        <p:spPr>
          <a:xfrm>
            <a:off x="731520" y="3200400"/>
            <a:ext cx="3840480" cy="658368"/>
          </a:xfrm>
          <a:prstGeom prst="rect">
            <a:avLst/>
          </a:prstGeom>
          <a:noFill/>
          <a:ln/>
        </p:spPr>
        <p:txBody>
          <a:bodyPr wrap="square" lIns="0" tIns="0" rIns="0" bIns="0" rtlCol="0" anchor="ctr"/>
          <a:lstStyle/>
          <a:p>
            <a:pPr indent="0" marL="0">
              <a:buNone/>
            </a:pPr>
            <a:r>
              <a:rPr lang="en-US" sz="1600" dirty="0">
                <a:solidFill>
                  <a:schemeClr val="tx2"/>
                </a:solidFill>
              </a:rPr>
              <a:t>Trained neural network</a:t>
            </a:r>
            <a:endParaRPr lang="en-US" sz="1600" dirty="0"/>
          </a:p>
        </p:txBody>
      </p:sp>
      <p:sp>
        <p:nvSpPr>
          <p:cNvPr id="11" name="Flow arrow 3"/>
          <p:cNvSpPr/>
          <p:nvPr/>
        </p:nvSpPr>
        <p:spPr>
          <a:xfrm>
            <a:off x="2514600" y="3877056"/>
            <a:ext cx="274320" cy="219456"/>
          </a:xfrm>
          <a:prstGeom prst="downArrow">
            <a:avLst/>
          </a:prstGeom>
          <a:solidFill>
            <a:schemeClr val="accent5"/>
          </a:solidFill>
          <a:ln/>
        </p:spPr>
      </p:sp>
      <p:sp>
        <p:nvSpPr>
          <p:cNvPr id="12" name="Flow step 4"/>
          <p:cNvSpPr/>
          <p:nvPr/>
        </p:nvSpPr>
        <p:spPr>
          <a:xfrm>
            <a:off x="548640" y="4114800"/>
            <a:ext cx="4206240" cy="658368"/>
          </a:xfrm>
          <a:prstGeom prst="roundRect">
            <a:avLst>
              <a:gd name="adj" fmla="val 16667"/>
            </a:avLst>
          </a:prstGeom>
          <a:solidFill>
            <a:schemeClr val="accent6"/>
          </a:solidFill>
          <a:ln/>
        </p:spPr>
      </p:sp>
      <p:sp>
        <p:nvSpPr>
          <p:cNvPr id="13" name="Flow 4 text"/>
          <p:cNvSpPr txBox="1"/>
          <p:nvPr/>
        </p:nvSpPr>
        <p:spPr>
          <a:xfrm>
            <a:off x="731520" y="4114800"/>
            <a:ext cx="3840480" cy="658368"/>
          </a:xfrm>
          <a:prstGeom prst="rect">
            <a:avLst/>
          </a:prstGeom>
          <a:noFill/>
          <a:ln/>
        </p:spPr>
        <p:txBody>
          <a:bodyPr wrap="square" lIns="0" tIns="0" rIns="0" bIns="0" rtlCol="0" anchor="ctr"/>
          <a:lstStyle/>
          <a:p>
            <a:pPr indent="0" marL="0">
              <a:buNone/>
            </a:pPr>
            <a:r>
              <a:rPr lang="en-US" sz="1600" dirty="0">
                <a:solidFill>
                  <a:schemeClr val="tx2"/>
                </a:solidFill>
              </a:rPr>
              <a:t>Softmax probabilities</a:t>
            </a:r>
            <a:endParaRPr lang="en-US" sz="1600" dirty="0"/>
          </a:p>
        </p:txBody>
      </p:sp>
      <p:sp>
        <p:nvSpPr>
          <p:cNvPr id="14" name="Flow arrow 4"/>
          <p:cNvSpPr/>
          <p:nvPr/>
        </p:nvSpPr>
        <p:spPr>
          <a:xfrm>
            <a:off x="2514600" y="4791456"/>
            <a:ext cx="274320" cy="219456"/>
          </a:xfrm>
          <a:prstGeom prst="downArrow">
            <a:avLst/>
          </a:prstGeom>
          <a:solidFill>
            <a:schemeClr val="accent5"/>
          </a:solidFill>
          <a:ln/>
        </p:spPr>
      </p:sp>
      <p:sp>
        <p:nvSpPr>
          <p:cNvPr id="15" name="Flow step 5"/>
          <p:cNvSpPr/>
          <p:nvPr/>
        </p:nvSpPr>
        <p:spPr>
          <a:xfrm>
            <a:off x="548640" y="5029200"/>
            <a:ext cx="4206240" cy="658368"/>
          </a:xfrm>
          <a:prstGeom prst="roundRect">
            <a:avLst>
              <a:gd name="adj" fmla="val 16667"/>
            </a:avLst>
          </a:prstGeom>
          <a:solidFill>
            <a:schemeClr val="tx2"/>
          </a:solidFill>
          <a:ln/>
        </p:spPr>
      </p:sp>
      <p:sp>
        <p:nvSpPr>
          <p:cNvPr id="16" name="Flow 5 text"/>
          <p:cNvSpPr txBox="1"/>
          <p:nvPr/>
        </p:nvSpPr>
        <p:spPr>
          <a:xfrm>
            <a:off x="731520" y="5029200"/>
            <a:ext cx="3840480" cy="658368"/>
          </a:xfrm>
          <a:prstGeom prst="rect">
            <a:avLst/>
          </a:prstGeom>
          <a:noFill/>
          <a:ln/>
        </p:spPr>
        <p:txBody>
          <a:bodyPr wrap="square" lIns="0" tIns="0" rIns="0" bIns="0" rtlCol="0" anchor="ctr"/>
          <a:lstStyle/>
          <a:p>
            <a:pPr indent="0" marL="0">
              <a:buNone/>
            </a:pPr>
            <a:r>
              <a:rPr lang="en-US" sz="1600" b="1" dirty="0">
                <a:solidFill>
                  <a:schemeClr val="bg1"/>
                </a:solidFill>
              </a:rPr>
              <a:t>argmax → diagnosis</a:t>
            </a:r>
            <a:endParaRPr lang="en-US" sz="1600" dirty="0"/>
          </a:p>
        </p:txBody>
      </p:sp>
      <p:sp>
        <p:nvSpPr>
          <p:cNvPr id="17" name="Console"/>
          <p:cNvSpPr/>
          <p:nvPr/>
        </p:nvSpPr>
        <p:spPr>
          <a:xfrm>
            <a:off x="5120640" y="1371600"/>
            <a:ext cx="6492240" cy="3931920"/>
          </a:xfrm>
          <a:prstGeom prst="roundRect">
            <a:avLst>
              <a:gd name="adj" fmla="val 2791"/>
            </a:avLst>
          </a:prstGeom>
          <a:solidFill>
            <a:srgbClr val="1E1A1D"/>
          </a:solidFill>
          <a:ln/>
        </p:spPr>
      </p:sp>
      <p:sp>
        <p:nvSpPr>
          <p:cNvPr id="18" name="Console text"/>
          <p:cNvSpPr txBox="1"/>
          <p:nvPr/>
        </p:nvSpPr>
        <p:spPr>
          <a:xfrm>
            <a:off x="5394960" y="1600200"/>
            <a:ext cx="6035040" cy="3566160"/>
          </a:xfrm>
          <a:prstGeom prst="rect">
            <a:avLst/>
          </a:prstGeom>
          <a:noFill/>
          <a:ln/>
        </p:spPr>
        <p:txBody>
          <a:bodyPr wrap="square" lIns="0" tIns="0" rIns="0" bIns="0" rtlCol="0" anchor="t"/>
          <a:lstStyle/>
          <a:p>
            <a:pPr indent="0" marL="0">
              <a:buNone/>
            </a:pPr>
            <a:r>
              <a:rPr lang="en-US" sz="1700" dirty="0">
                <a:solidFill>
                  <a:srgbClr val="9CA3AF"/>
                </a:solidFill>
                <a:latin typeface="Courier New" pitchFamily="34" charset="0"/>
                <a:ea typeface="Courier New" pitchFamily="34" charset="-122"/>
                <a:cs typeface="Courier New" pitchFamily="34" charset="-120"/>
              </a:rPr>
              <a:t># Notebook</a:t>
            </a:r>
            <a:endParaRPr lang="en-US" sz="1700" dirty="0"/>
          </a:p>
          <a:p>
            <a:pPr indent="0" marL="0">
              <a:buNone/>
            </a:pPr>
            <a:r>
              <a:rPr lang="en-US" sz="1700" dirty="0">
                <a:solidFill>
                  <a:srgbClr val="F9D9E5"/>
                </a:solidFill>
                <a:latin typeface="Courier New" pitchFamily="34" charset="0"/>
                <a:ea typeface="Courier New" pitchFamily="34" charset="-122"/>
                <a:cs typeface="Courier New" pitchFamily="34" charset="-120"/>
              </a:rPr>
              <a:t>predict_tumour(input_data)</a:t>
            </a:r>
            <a:endParaRPr lang="en-US" sz="1700" dirty="0"/>
          </a:p>
          <a:p>
            <a:pPr indent="0" marL="0">
              <a:buNone/>
            </a:pPr>
            <a:r>
              <a:rPr lang="en-US" sz="1700" dirty="0">
                <a:solidFill>
                  <a:srgbClr val="8EC5FF"/>
                </a:solidFill>
                <a:latin typeface="Courier New" pitchFamily="34" charset="0"/>
                <a:ea typeface="Courier New" pitchFamily="34" charset="-122"/>
                <a:cs typeface="Courier New" pitchFamily="34" charset="-120"/>
              </a:rPr>
              <a:t>Prediction: BENIGN (confidence 99.9%)</a:t>
            </a:r>
            <a:endParaRPr lang="en-US" sz="1700" dirty="0"/>
          </a:p>
          <a:p>
            <a:pPr indent="0" marL="0">
              <a:buNone/>
            </a:pPr>
            <a:r>
              <a:rPr lang="en-US" sz="1700" dirty="0">
                <a:solidFill>
                  <a:srgbClr val="000000"/>
                </a:solidFill>
                <a:latin typeface="Courier New" pitchFamily="34" charset="0"/>
                <a:ea typeface="Courier New" pitchFamily="34" charset="-122"/>
                <a:cs typeface="Courier New" pitchFamily="34" charset="-120"/>
              </a:rPr>
              <a:t> </a:t>
            </a:r>
            <a:endParaRPr lang="en-US" sz="1700" dirty="0"/>
          </a:p>
          <a:p>
            <a:pPr indent="0" marL="0">
              <a:buNone/>
            </a:pPr>
            <a:r>
              <a:rPr lang="en-US" sz="1700" dirty="0">
                <a:solidFill>
                  <a:srgbClr val="F9D9E5"/>
                </a:solidFill>
                <a:latin typeface="Courier New" pitchFamily="34" charset="0"/>
                <a:ea typeface="Courier New" pitchFamily="34" charset="-122"/>
                <a:cs typeface="Courier New" pitchFamily="34" charset="-120"/>
              </a:rPr>
              <a:t>predict_tumour(dataset.data[0])</a:t>
            </a:r>
            <a:endParaRPr lang="en-US" sz="1700" dirty="0"/>
          </a:p>
          <a:p>
            <a:pPr indent="0" marL="0">
              <a:buNone/>
            </a:pPr>
            <a:r>
              <a:rPr lang="en-US" sz="1700" dirty="0">
                <a:solidFill>
                  <a:srgbClr val="FFB08A"/>
                </a:solidFill>
                <a:latin typeface="Courier New" pitchFamily="34" charset="0"/>
                <a:ea typeface="Courier New" pitchFamily="34" charset="-122"/>
                <a:cs typeface="Courier New" pitchFamily="34" charset="-120"/>
              </a:rPr>
              <a:t>Prediction: MALIGNANT (confidence 100.0%)</a:t>
            </a:r>
            <a:endParaRPr lang="en-US" sz="1700" dirty="0"/>
          </a:p>
          <a:p>
            <a:pPr indent="0" marL="0">
              <a:buNone/>
            </a:pPr>
            <a:r>
              <a:rPr lang="en-US" sz="1700" dirty="0">
                <a:solidFill>
                  <a:srgbClr val="000000"/>
                </a:solidFill>
                <a:latin typeface="Courier New" pitchFamily="34" charset="0"/>
                <a:ea typeface="Courier New" pitchFamily="34" charset="-122"/>
                <a:cs typeface="Courier New" pitchFamily="34" charset="-120"/>
              </a:rPr>
              <a:t> </a:t>
            </a:r>
            <a:endParaRPr lang="en-US" sz="1700" dirty="0"/>
          </a:p>
          <a:p>
            <a:pPr indent="0" marL="0">
              <a:buNone/>
            </a:pPr>
            <a:r>
              <a:rPr lang="en-US" sz="1700" dirty="0">
                <a:solidFill>
                  <a:srgbClr val="9CA3AF"/>
                </a:solidFill>
                <a:latin typeface="Courier New" pitchFamily="34" charset="0"/>
                <a:ea typeface="Courier New" pitchFamily="34" charset="-122"/>
                <a:cs typeface="Courier New" pitchFamily="34" charset="-120"/>
              </a:rPr>
              <a:t># Command line</a:t>
            </a:r>
            <a:endParaRPr lang="en-US" sz="1700" dirty="0"/>
          </a:p>
          <a:p>
            <a:pPr indent="0" marL="0">
              <a:buNone/>
            </a:pPr>
            <a:r>
              <a:rPr lang="en-US" sz="1700" dirty="0">
                <a:solidFill>
                  <a:srgbClr val="F9D9E5"/>
                </a:solidFill>
                <a:latin typeface="Courier New" pitchFamily="34" charset="0"/>
                <a:ea typeface="Courier New" pitchFamily="34" charset="-122"/>
                <a:cs typeface="Courier New" pitchFamily="34" charset="-120"/>
              </a:rPr>
              <a:t>$ python -m src.predict --values "17.99,..."</a:t>
            </a:r>
            <a:endParaRPr lang="en-US" sz="1700" dirty="0"/>
          </a:p>
          <a:p>
            <a:pPr indent="0" marL="0">
              <a:buNone/>
            </a:pPr>
            <a:r>
              <a:rPr lang="en-US" sz="1700" dirty="0">
                <a:solidFill>
                  <a:srgbClr val="F9D9E5"/>
                </a:solidFill>
                <a:latin typeface="Courier New" pitchFamily="34" charset="0"/>
                <a:ea typeface="Courier New" pitchFamily="34" charset="-122"/>
                <a:cs typeface="Courier New" pitchFamily="34" charset="-120"/>
              </a:rPr>
              <a:t>$ python -m src.predict --csv patients.csv</a:t>
            </a:r>
            <a:endParaRPr lang="en-US" sz="1700" dirty="0"/>
          </a:p>
        </p:txBody>
      </p:sp>
      <p:sp>
        <p:nvSpPr>
          <p:cNvPr id="19" name="Disclaimer"/>
          <p:cNvSpPr txBox="1"/>
          <p:nvPr/>
        </p:nvSpPr>
        <p:spPr>
          <a:xfrm>
            <a:off x="5120640" y="5440680"/>
            <a:ext cx="6492240" cy="365760"/>
          </a:xfrm>
          <a:prstGeom prst="rect">
            <a:avLst/>
          </a:prstGeom>
          <a:noFill/>
          <a:ln/>
        </p:spPr>
        <p:txBody>
          <a:bodyPr wrap="square" lIns="0" tIns="0" rIns="0" bIns="0" rtlCol="0" anchor="ctr"/>
          <a:lstStyle/>
          <a:p>
            <a:pPr indent="0" marL="0">
              <a:buNone/>
            </a:pPr>
            <a:r>
              <a:rPr lang="en-US" sz="1400" i="1" dirty="0">
                <a:solidFill>
                  <a:schemeClr val="accent5"/>
                </a:solidFill>
              </a:rPr>
              <a:t>Educational tool: supports, never replaces, a doctor's diagnosis.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Conclusion and future scope</a:t>
            </a:r>
            <a:endParaRPr lang="en-US" sz="3400" dirty="0"/>
          </a:p>
        </p:txBody>
      </p:sp>
      <p:sp>
        <p:nvSpPr>
          <p:cNvPr id="3" name="Conclusion card"/>
          <p:cNvSpPr/>
          <p:nvPr/>
        </p:nvSpPr>
        <p:spPr>
          <a:xfrm>
            <a:off x="548640" y="1371600"/>
            <a:ext cx="5394960" cy="4663440"/>
          </a:xfrm>
          <a:prstGeom prst="roundRect">
            <a:avLst>
              <a:gd name="adj" fmla="val 2353"/>
            </a:avLst>
          </a:prstGeom>
          <a:solidFill>
            <a:schemeClr val="bg2"/>
          </a:solidFill>
          <a:ln/>
        </p:spPr>
      </p:sp>
      <p:sp>
        <p:nvSpPr>
          <p:cNvPr id="4" name="Conclusion circle"/>
          <p:cNvSpPr/>
          <p:nvPr/>
        </p:nvSpPr>
        <p:spPr>
          <a:xfrm>
            <a:off x="777240" y="1554480"/>
            <a:ext cx="594360" cy="594360"/>
          </a:xfrm>
          <a:prstGeom prst="ellipse">
            <a:avLst/>
          </a:prstGeom>
          <a:solidFill>
            <a:schemeClr val="accent1"/>
          </a:solidFill>
          <a:ln/>
        </p:spPr>
      </p:sp>
      <p:pic>
        <p:nvPicPr>
          <p:cNvPr id="5" name="Conclusion icon" descr="preencoded.png">    </p:cNvPr>
          <p:cNvPicPr>
            <a:picLocks noChangeAspect="1"/>
          </p:cNvPicPr>
          <p:nvPr/>
        </p:nvPicPr>
        <p:blipFill>
          <a:blip r:embed="rId1"/>
          <a:stretch>
            <a:fillRect/>
          </a:stretch>
        </p:blipFill>
        <p:spPr>
          <a:xfrm>
            <a:off x="919886" y="1697126"/>
            <a:ext cx="309067" cy="309067"/>
          </a:xfrm>
          <a:prstGeom prst="rect">
            <a:avLst/>
          </a:prstGeom>
        </p:spPr>
      </p:pic>
      <p:sp>
        <p:nvSpPr>
          <p:cNvPr id="6" name="Conclusion head"/>
          <p:cNvSpPr txBox="1"/>
          <p:nvPr/>
        </p:nvSpPr>
        <p:spPr>
          <a:xfrm>
            <a:off x="1508760" y="1554480"/>
            <a:ext cx="4114800" cy="594360"/>
          </a:xfrm>
          <a:prstGeom prst="rect">
            <a:avLst/>
          </a:prstGeom>
          <a:noFill/>
          <a:ln/>
        </p:spPr>
        <p:txBody>
          <a:bodyPr wrap="square" lIns="0" tIns="0" rIns="0" bIns="0" rtlCol="0" anchor="ctr"/>
          <a:lstStyle/>
          <a:p>
            <a:pPr indent="0" marL="0">
              <a:buNone/>
            </a:pPr>
            <a:r>
              <a:rPr lang="en-US" sz="2000" b="1" dirty="0">
                <a:solidFill>
                  <a:schemeClr val="tx2"/>
                </a:solidFill>
              </a:rPr>
              <a:t>Conclusion</a:t>
            </a:r>
            <a:endParaRPr lang="en-US" sz="2000" dirty="0"/>
          </a:p>
        </p:txBody>
      </p:sp>
      <p:sp>
        <p:nvSpPr>
          <p:cNvPr id="7" name="Conclusion text"/>
          <p:cNvSpPr txBox="1"/>
          <p:nvPr/>
        </p:nvSpPr>
        <p:spPr>
          <a:xfrm>
            <a:off x="777240" y="2377440"/>
            <a:ext cx="4983480" cy="352044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chemeClr val="tx1"/>
                </a:solidFill>
              </a:rPr>
              <a:t>A 650-parameter network reached 96.5% test accuracy, above the 90% target</a:t>
            </a:r>
            <a:endParaRPr lang="en-US" sz="1700" dirty="0"/>
          </a:p>
          <a:p>
            <a:pPr marL="342900" indent="-342900">
              <a:spcAft>
                <a:spcPts val="1400"/>
              </a:spcAft>
              <a:buSzPct val="100000"/>
              <a:buChar char="•"/>
            </a:pPr>
            <a:r>
              <a:rPr lang="en-US" sz="1700" dirty="0">
                <a:solidFill>
                  <a:schemeClr val="tx1"/>
                </a:solidFill>
              </a:rPr>
              <a:t>It caught 41 of 42 cancers (sensitivity 97.6%)</a:t>
            </a:r>
            <a:endParaRPr lang="en-US" sz="1700" dirty="0"/>
          </a:p>
          <a:p>
            <a:pPr marL="342900" indent="-342900">
              <a:spcAft>
                <a:spcPts val="1400"/>
              </a:spcAft>
              <a:buSzPct val="100000"/>
              <a:buChar char="•"/>
            </a:pPr>
            <a:r>
              <a:rPr lang="en-US" sz="1700" dirty="0">
                <a:solidFill>
                  <a:schemeClr val="tx1"/>
                </a:solidFill>
              </a:rPr>
              <a:t>5-fold cross-validation (97.7% ± 0.9%) confirms the result is stable</a:t>
            </a:r>
            <a:endParaRPr lang="en-US" sz="1700" dirty="0"/>
          </a:p>
          <a:p>
            <a:pPr marL="342900" indent="-342900">
              <a:spcAft>
                <a:spcPts val="1400"/>
              </a:spcAft>
              <a:buSzPct val="100000"/>
              <a:buChar char="•"/>
            </a:pPr>
            <a:r>
              <a:rPr lang="en-US" sz="1700" dirty="0">
                <a:solidFill>
                  <a:schemeClr val="tx1"/>
                </a:solidFill>
              </a:rPr>
              <a:t>One cancer was missed with high confidence, so it should support doctors, not replace them</a:t>
            </a:r>
            <a:endParaRPr lang="en-US" sz="1700" dirty="0"/>
          </a:p>
          <a:p>
            <a:pPr marL="342900" indent="-342900">
              <a:spcAft>
                <a:spcPts val="1400"/>
              </a:spcAft>
              <a:buSzPct val="100000"/>
              <a:buChar char="•"/>
            </a:pPr>
            <a:r>
              <a:rPr lang="en-US" sz="1700" dirty="0">
                <a:solidFill>
                  <a:schemeClr val="tx1"/>
                </a:solidFill>
              </a:rPr>
              <a:t>Classical models are equally strong on this small, tabular dataset</a:t>
            </a:r>
            <a:endParaRPr lang="en-US" sz="1700" dirty="0"/>
          </a:p>
        </p:txBody>
      </p:sp>
      <p:sp>
        <p:nvSpPr>
          <p:cNvPr id="8" name="Future card"/>
          <p:cNvSpPr/>
          <p:nvPr/>
        </p:nvSpPr>
        <p:spPr>
          <a:xfrm>
            <a:off x="6217920" y="1371600"/>
            <a:ext cx="5394960" cy="4663440"/>
          </a:xfrm>
          <a:prstGeom prst="roundRect">
            <a:avLst>
              <a:gd name="adj" fmla="val 2353"/>
            </a:avLst>
          </a:prstGeom>
          <a:solidFill>
            <a:schemeClr val="accent6"/>
          </a:solidFill>
          <a:ln/>
        </p:spPr>
      </p:sp>
      <p:sp>
        <p:nvSpPr>
          <p:cNvPr id="9" name="Future circle"/>
          <p:cNvSpPr/>
          <p:nvPr/>
        </p:nvSpPr>
        <p:spPr>
          <a:xfrm>
            <a:off x="6446520" y="1554480"/>
            <a:ext cx="594360" cy="594360"/>
          </a:xfrm>
          <a:prstGeom prst="ellipse">
            <a:avLst/>
          </a:prstGeom>
          <a:solidFill>
            <a:schemeClr val="accent1"/>
          </a:solidFill>
          <a:ln/>
        </p:spPr>
      </p:sp>
      <p:pic>
        <p:nvPicPr>
          <p:cNvPr id="10" name="Future icon" descr="preencoded.png">    </p:cNvPr>
          <p:cNvPicPr>
            <a:picLocks noChangeAspect="1"/>
          </p:cNvPicPr>
          <p:nvPr/>
        </p:nvPicPr>
        <p:blipFill>
          <a:blip r:embed="rId2"/>
          <a:stretch>
            <a:fillRect/>
          </a:stretch>
        </p:blipFill>
        <p:spPr>
          <a:xfrm>
            <a:off x="6589166" y="1697126"/>
            <a:ext cx="309067" cy="309067"/>
          </a:xfrm>
          <a:prstGeom prst="rect">
            <a:avLst/>
          </a:prstGeom>
        </p:spPr>
      </p:pic>
      <p:sp>
        <p:nvSpPr>
          <p:cNvPr id="11" name="Future head"/>
          <p:cNvSpPr txBox="1"/>
          <p:nvPr/>
        </p:nvSpPr>
        <p:spPr>
          <a:xfrm>
            <a:off x="7178040" y="1554480"/>
            <a:ext cx="4114800" cy="594360"/>
          </a:xfrm>
          <a:prstGeom prst="rect">
            <a:avLst/>
          </a:prstGeom>
          <a:noFill/>
          <a:ln/>
        </p:spPr>
        <p:txBody>
          <a:bodyPr wrap="square" lIns="0" tIns="0" rIns="0" bIns="0" rtlCol="0" anchor="ctr"/>
          <a:lstStyle/>
          <a:p>
            <a:pPr indent="0" marL="0">
              <a:buNone/>
            </a:pPr>
            <a:r>
              <a:rPr lang="en-US" sz="2000" b="1" dirty="0">
                <a:solidFill>
                  <a:schemeClr val="tx2"/>
                </a:solidFill>
              </a:rPr>
              <a:t>Future scope</a:t>
            </a:r>
            <a:endParaRPr lang="en-US" sz="2000" dirty="0"/>
          </a:p>
        </p:txBody>
      </p:sp>
      <p:sp>
        <p:nvSpPr>
          <p:cNvPr id="12" name="Future text"/>
          <p:cNvSpPr txBox="1"/>
          <p:nvPr/>
        </p:nvSpPr>
        <p:spPr>
          <a:xfrm>
            <a:off x="6446520" y="2377440"/>
            <a:ext cx="4983480" cy="352044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chemeClr val="tx1"/>
                </a:solidFill>
              </a:rPr>
              <a:t>Train on larger, multi-hospital datasets</a:t>
            </a:r>
            <a:endParaRPr lang="en-US" sz="1700" dirty="0"/>
          </a:p>
          <a:p>
            <a:pPr marL="342900" indent="-342900">
              <a:spcAft>
                <a:spcPts val="1400"/>
              </a:spcAft>
              <a:buSzPct val="100000"/>
              <a:buChar char="•"/>
            </a:pPr>
            <a:r>
              <a:rPr lang="en-US" sz="1700" dirty="0">
                <a:solidFill>
                  <a:schemeClr val="tx1"/>
                </a:solidFill>
              </a:rPr>
              <a:t>Explain each prediction with SHAP values</a:t>
            </a:r>
            <a:endParaRPr lang="en-US" sz="1700" dirty="0"/>
          </a:p>
          <a:p>
            <a:pPr marL="342900" indent="-342900">
              <a:spcAft>
                <a:spcPts val="1400"/>
              </a:spcAft>
              <a:buSzPct val="100000"/>
              <a:buChar char="•"/>
            </a:pPr>
            <a:r>
              <a:rPr lang="en-US" sz="1700" dirty="0">
                <a:solidFill>
                  <a:schemeClr val="tx1"/>
                </a:solidFill>
              </a:rPr>
              <a:t>Tune the decision threshold for even higher sensitivity</a:t>
            </a:r>
            <a:endParaRPr lang="en-US" sz="1700" dirty="0"/>
          </a:p>
          <a:p>
            <a:pPr marL="342900" indent="-342900">
              <a:spcAft>
                <a:spcPts val="1400"/>
              </a:spcAft>
              <a:buSzPct val="100000"/>
              <a:buChar char="•"/>
            </a:pPr>
            <a:r>
              <a:rPr lang="en-US" sz="1700" dirty="0">
                <a:solidFill>
                  <a:schemeClr val="tx1"/>
                </a:solidFill>
              </a:rPr>
              <a:t>Use CNNs directly on histopathology images</a:t>
            </a:r>
            <a:endParaRPr lang="en-US" sz="1700" dirty="0"/>
          </a:p>
          <a:p>
            <a:pPr marL="342900" indent="-342900">
              <a:spcAft>
                <a:spcPts val="1400"/>
              </a:spcAft>
              <a:buSzPct val="100000"/>
              <a:buChar char="•"/>
            </a:pPr>
            <a:r>
              <a:rPr lang="en-US" sz="1700" dirty="0">
                <a:solidFill>
                  <a:schemeClr val="tx1"/>
                </a:solidFill>
              </a:rPr>
              <a:t>Deploy as a web app (Streamlit / Flask) for clinicians</a:t>
            </a:r>
            <a:endParaRPr lang="en-US" sz="17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hanks"/>
          <p:cNvSpPr txBox="1"/>
          <p:nvPr/>
        </p:nvSpPr>
        <p:spPr>
          <a:xfrm>
            <a:off x="731520" y="1737360"/>
            <a:ext cx="10698480" cy="118872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Thank you</a:t>
            </a:r>
            <a:endParaRPr lang="en-US" sz="5400" dirty="0"/>
          </a:p>
        </p:txBody>
      </p:sp>
      <p:sp>
        <p:nvSpPr>
          <p:cNvPr id="3" name="Questions"/>
          <p:cNvSpPr txBox="1"/>
          <p:nvPr/>
        </p:nvSpPr>
        <p:spPr>
          <a:xfrm>
            <a:off x="731520" y="2926080"/>
            <a:ext cx="10698480" cy="640080"/>
          </a:xfrm>
          <a:prstGeom prst="rect">
            <a:avLst/>
          </a:prstGeom>
          <a:noFill/>
          <a:ln/>
        </p:spPr>
        <p:txBody>
          <a:bodyPr wrap="square" lIns="0" tIns="0" rIns="0" bIns="0" rtlCol="0" anchor="ctr"/>
          <a:lstStyle/>
          <a:p>
            <a:pPr indent="0" marL="0">
              <a:buNone/>
            </a:pPr>
            <a:r>
              <a:rPr lang="en-US" sz="2400" i="1" dirty="0">
                <a:solidFill>
                  <a:schemeClr val="accent6"/>
                </a:solidFill>
              </a:rPr>
              <a:t>Questions and discussion</a:t>
            </a:r>
            <a:endParaRPr lang="en-US" sz="2400" dirty="0"/>
          </a:p>
        </p:txBody>
      </p:sp>
      <p:sp>
        <p:nvSpPr>
          <p:cNvPr id="4" name="GitHub circle"/>
          <p:cNvSpPr/>
          <p:nvPr/>
        </p:nvSpPr>
        <p:spPr>
          <a:xfrm>
            <a:off x="731520" y="4251960"/>
            <a:ext cx="548640" cy="548640"/>
          </a:xfrm>
          <a:prstGeom prst="ellipse">
            <a:avLst/>
          </a:prstGeom>
          <a:solidFill>
            <a:schemeClr val="accent1"/>
          </a:solidFill>
          <a:ln/>
        </p:spPr>
      </p:sp>
      <p:pic>
        <p:nvPicPr>
          <p:cNvPr id="5" name="GitHub icon" descr="preencoded.png">    </p:cNvPr>
          <p:cNvPicPr>
            <a:picLocks noChangeAspect="1"/>
          </p:cNvPicPr>
          <p:nvPr/>
        </p:nvPicPr>
        <p:blipFill>
          <a:blip r:embed="rId1"/>
          <a:stretch>
            <a:fillRect/>
          </a:stretch>
        </p:blipFill>
        <p:spPr>
          <a:xfrm>
            <a:off x="863194" y="4383634"/>
            <a:ext cx="285293" cy="285293"/>
          </a:xfrm>
          <a:prstGeom prst="rect">
            <a:avLst/>
          </a:prstGeom>
        </p:spPr>
      </p:pic>
      <p:sp>
        <p:nvSpPr>
          <p:cNvPr id="6" name="GitHub link"/>
          <p:cNvSpPr txBox="1"/>
          <p:nvPr/>
        </p:nvSpPr>
        <p:spPr>
          <a:xfrm>
            <a:off x="1463040" y="4251960"/>
            <a:ext cx="9601200" cy="548640"/>
          </a:xfrm>
          <a:prstGeom prst="rect">
            <a:avLst/>
          </a:prstGeom>
          <a:noFill/>
          <a:ln/>
        </p:spPr>
        <p:txBody>
          <a:bodyPr wrap="square" lIns="0" tIns="0" rIns="0" bIns="0" rtlCol="0" anchor="ctr"/>
          <a:lstStyle/>
          <a:p>
            <a:pPr indent="0" marL="0">
              <a:buNone/>
            </a:pPr>
            <a:r>
              <a:rPr lang="en-US" sz="1800" dirty="0">
                <a:solidFill>
                  <a:schemeClr val="bg1"/>
                </a:solidFill>
              </a:rPr>
              <a:t>github.com/sangini-agrawal/breast-cancer-classification-nn</a:t>
            </a:r>
            <a:endParaRPr lang="en-US" sz="1800" dirty="0"/>
          </a:p>
        </p:txBody>
      </p:sp>
      <p:sp>
        <p:nvSpPr>
          <p:cNvPr id="7" name="Email circle"/>
          <p:cNvSpPr/>
          <p:nvPr/>
        </p:nvSpPr>
        <p:spPr>
          <a:xfrm>
            <a:off x="731520" y="4983480"/>
            <a:ext cx="548640" cy="548640"/>
          </a:xfrm>
          <a:prstGeom prst="ellipse">
            <a:avLst/>
          </a:prstGeom>
          <a:solidFill>
            <a:schemeClr val="accent1"/>
          </a:solidFill>
          <a:ln/>
        </p:spPr>
      </p:sp>
      <p:pic>
        <p:nvPicPr>
          <p:cNvPr id="8" name="Email icon" descr="preencoded.png">    </p:cNvPr>
          <p:cNvPicPr>
            <a:picLocks noChangeAspect="1"/>
          </p:cNvPicPr>
          <p:nvPr/>
        </p:nvPicPr>
        <p:blipFill>
          <a:blip r:embed="rId2"/>
          <a:stretch>
            <a:fillRect/>
          </a:stretch>
        </p:blipFill>
        <p:spPr>
          <a:xfrm>
            <a:off x="863194" y="5115154"/>
            <a:ext cx="285293" cy="285293"/>
          </a:xfrm>
          <a:prstGeom prst="rect">
            <a:avLst/>
          </a:prstGeom>
        </p:spPr>
      </p:pic>
      <p:sp>
        <p:nvSpPr>
          <p:cNvPr id="9" name="Email"/>
          <p:cNvSpPr txBox="1"/>
          <p:nvPr/>
        </p:nvSpPr>
        <p:spPr>
          <a:xfrm>
            <a:off x="1463040" y="4983480"/>
            <a:ext cx="9601200" cy="548640"/>
          </a:xfrm>
          <a:prstGeom prst="rect">
            <a:avLst/>
          </a:prstGeom>
          <a:noFill/>
          <a:ln/>
        </p:spPr>
        <p:txBody>
          <a:bodyPr wrap="square" lIns="0" tIns="0" rIns="0" bIns="0" rtlCol="0" anchor="ctr"/>
          <a:lstStyle/>
          <a:p>
            <a:pPr indent="0" marL="0">
              <a:buNone/>
            </a:pPr>
            <a:r>
              <a:rPr lang="en-US" sz="1800" dirty="0">
                <a:solidFill>
                  <a:schemeClr val="bg1"/>
                </a:solidFill>
              </a:rPr>
              <a:t>sanginiagrawal21@gmail.com</a:t>
            </a:r>
            <a:endParaRPr lang="en-US" sz="1800" dirty="0"/>
          </a:p>
        </p:txBody>
      </p:sp>
    </p:spTree>
  </p:cSld>
  <p:clrMapOvr>
    <a:masterClrMapping/>
  </p:clrMapOvr>
</p:sld>
</file>

<file path=ppt/theme/theme1.xml><?xml version="1.0" encoding="utf-8"?>
<a:theme xmlns:a="http://schemas.openxmlformats.org/drawingml/2006/main" name="Rose Clinical">
  <a:themeElements>
    <a:clrScheme name="Rose Clinical">
      <a:dk1>
        <a:srgbClr val="1E1A1D"/>
      </a:dk1>
      <a:lt1>
        <a:srgbClr val="FFFFFF"/>
      </a:lt1>
      <a:dk2>
        <a:srgbClr val="3A1F33"/>
      </a:dk2>
      <a:lt2>
        <a:srgbClr val="F6F1F4"/>
      </a:lt2>
      <a:accent1>
        <a:srgbClr val="B5446E"/>
      </a:accent1>
      <a:accent2>
        <a:srgbClr val="2A78D6"/>
      </a:accent2>
      <a:accent3>
        <a:srgbClr val="EB6834"/>
      </a:accent3>
      <a:accent4>
        <a:srgbClr val="1BAF7A"/>
      </a:accent4>
      <a:accent5>
        <a:srgbClr val="6B5B66"/>
      </a:accent5>
      <a:accent6>
        <a:srgbClr val="EBD6E0"/>
      </a:accent6>
      <a:hlink>
        <a:srgbClr val="2A78D6"/>
      </a:hlink>
      <a:folHlink>
        <a:srgbClr val="6250D6"/>
      </a:folHlink>
    </a:clrScheme>
    <a:fontScheme name="Rose Clinic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Naviotech Solution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Breast Cancer Classification using Neural Networks</dc:title>
  <dc:subject>PptxGenJS Presentation</dc:subject>
  <dc:creator>Sangini Agrawal</dc:creator>
  <cp:lastModifiedBy>Sangini Agrawal</cp:lastModifiedBy>
  <cp:revision>1</cp:revision>
  <dcterms:created xsi:type="dcterms:W3CDTF">2026-10-28T20:01:32Z</dcterms:created>
  <dcterms:modified xsi:type="dcterms:W3CDTF">2026-10-28T20:01:32Z</dcterms:modified>
</cp:coreProperties>
</file>